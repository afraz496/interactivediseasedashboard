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5" r:id="rId4"/>
  </p:sldMasterIdLst>
  <p:notesMasterIdLst>
    <p:notesMasterId r:id="rId19"/>
  </p:notesMasterIdLst>
  <p:handoutMasterIdLst>
    <p:handoutMasterId r:id="rId20"/>
  </p:handoutMasterIdLst>
  <p:sldIdLst>
    <p:sldId id="324" r:id="rId5"/>
    <p:sldId id="336" r:id="rId6"/>
    <p:sldId id="337" r:id="rId7"/>
    <p:sldId id="338" r:id="rId8"/>
    <p:sldId id="339" r:id="rId9"/>
    <p:sldId id="312" r:id="rId10"/>
    <p:sldId id="317" r:id="rId11"/>
    <p:sldId id="342" r:id="rId12"/>
    <p:sldId id="345" r:id="rId13"/>
    <p:sldId id="343" r:id="rId14"/>
    <p:sldId id="344" r:id="rId15"/>
    <p:sldId id="348" r:id="rId16"/>
    <p:sldId id="347" r:id="rId17"/>
    <p:sldId id="325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ssa  Cheng [BCCDC]" initials="TC" lastIdx="15" clrIdx="0"/>
  <p:cmAuthor id="2" name="Bhatnagar, Himani [BCCDC]" initials="BH[" lastIdx="31" clrIdx="1">
    <p:extLst>
      <p:ext uri="{19B8F6BF-5375-455C-9EA6-DF929625EA0E}">
        <p15:presenceInfo xmlns:p15="http://schemas.microsoft.com/office/powerpoint/2012/main" userId="S-1-5-21-4172170125-223816578-2443521385-2371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6AF59"/>
    <a:srgbClr val="61AB5D"/>
    <a:srgbClr val="60AC5B"/>
    <a:srgbClr val="368C6F"/>
    <a:srgbClr val="003E7A"/>
    <a:srgbClr val="009F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9" autoAdjust="0"/>
    <p:restoredTop sz="88950" autoAdjust="0"/>
  </p:normalViewPr>
  <p:slideViewPr>
    <p:cSldViewPr snapToGrid="0">
      <p:cViewPr varScale="1">
        <p:scale>
          <a:sx n="141" d="100"/>
          <a:sy n="141" d="100"/>
        </p:scale>
        <p:origin x="552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AAB94-E4C3-47E5-9232-7A43306B0086}" type="datetimeFigureOut">
              <a:rPr lang="en-CA" smtClean="0"/>
              <a:t>23-Apr-2026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02B207-DEF3-4B91-A671-1AEBECC806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04957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EE5A5D9-98DC-4AAD-818D-F1C922D0D4AF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1E1BAB98-4868-43A3-AF77-A88DF63441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bc.ca/radio/unreserved/redrawing-the-lines-1.4973363/i-regret-it-hayden-king-on-writing-ryerson-university-s-territorial-acknowledgement-1.4973371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chla-absc.ca/docs/NAHLALandAcnowledgement_4.pdf" TargetMode="External"/><Relationship Id="rId5" Type="http://schemas.openxmlformats.org/officeDocument/2006/relationships/hyperlink" Target="https://apihtawikosisan.com/2016/09/beyond-territorial-acknowledgments/" TargetMode="External"/><Relationship Id="rId4" Type="http://schemas.openxmlformats.org/officeDocument/2006/relationships/hyperlink" Target="https://www.youtube.com/watch?v=xlG17C19nYo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1BAB98-4868-43A3-AF77-A88DF63441DB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813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Notes from PHSA: As a presenter,</a:t>
            </a:r>
            <a:r>
              <a:rPr lang="en-US" sz="1000" i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encourage you to put some time and reflection into the land acknowledgment to make it more meaningful and personal.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am grateful to speak to you today from the traditional, ancestral and </a:t>
            </a:r>
            <a:r>
              <a:rPr lang="en-CA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unceded</a:t>
            </a:r>
            <a:r>
              <a:rPr lang="en-CA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territory of the </a:t>
            </a:r>
            <a:r>
              <a:rPr lang="en-CA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xʷmə</a:t>
            </a:r>
            <a:r>
              <a:rPr lang="el-G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</a:t>
            </a:r>
            <a:r>
              <a:rPr lang="en-CA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kʷəy̓əm</a:t>
            </a:r>
            <a:r>
              <a:rPr lang="en-CA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CA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Musqueam</a:t>
            </a:r>
            <a:r>
              <a:rPr lang="en-CA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Sḵwx̱wú7mesh (Squamish), and </a:t>
            </a:r>
            <a:r>
              <a:rPr lang="en-CA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səlilwətaɬ</a:t>
            </a:r>
            <a:r>
              <a:rPr lang="en-CA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CA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Tsleil-Waututh</a:t>
            </a:r>
            <a:r>
              <a:rPr lang="en-CA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First Nations.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are some guiding questions for people creating a land acknowledgment: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your intention or commitment to create a land acknowledgment? 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can you create an acknowledgement that holds up the original people of these lands?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does the land connect to your work/organization and how does it speak to the importance of ensuring Indigenous Cultural Safety is at the heart of the  messaging you convey?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you have a personal or professional commitment that builds off the acknowledgement? 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can your acknowledgement share your commitment to truth telling: i.e. reconciliation, addressing racism and long standing inequities?  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have you benefited personally and professionally from living and working on the land you are on? ​</a:t>
            </a:r>
          </a:p>
          <a:p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are some resources to review in regards to land acknowledgment: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Haden King's Regrets </a:t>
            </a:r>
          </a:p>
          <a:p>
            <a:r>
              <a:rPr lang="en-CA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https://www.cbc.ca/radio/unreserved/redrawing-the-lines-1.4973363/i-regret-it-hayden-king-on-writing-ryerson-university-s-territorial-acknowledgement-1.4973371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Baroness von Sketch Show</a:t>
            </a:r>
          </a:p>
          <a:p>
            <a:r>
              <a:rPr lang="en-CA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https://www.youtube.com/watch?v=xlG17C19nYo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Chelsea Vowel 2016 Beyond Territorial Acknowledgements </a:t>
            </a:r>
          </a:p>
          <a:p>
            <a:r>
              <a:rPr lang="en-CA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https://apihtawikosisan.com/2016/09/beyond-territorial-acknowledgments/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NAHLA 2019 Template for personalizing Land Acknowledgement</a:t>
            </a:r>
          </a:p>
          <a:p>
            <a:r>
              <a:rPr lang="en-CA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https://www.chla-absc.ca/docs/NAHLALandAcnowledgement_4.pdf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1BAB98-4868-43A3-AF77-A88DF63441D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9029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1BAB98-4868-43A3-AF77-A88DF63441D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576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C02C-E8BF-2428-F3F3-A51DE357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6A8ED-52CC-7141-D29C-E42D97BF1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B5941-4FBE-B5F9-FF9B-3101B227A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D0CDE-4440-4682-F293-10C51400C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1BAB98-4868-43A3-AF77-A88DF63441D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3640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DFD15-3FB8-92AD-0697-C892014D4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0D2DD-25F9-1445-966D-AA9DEB6DB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18D28-547D-7D61-68CC-1005B41E6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C3A95-F947-27C7-6F76-7D67CEED9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1BAB98-4868-43A3-AF77-A88DF63441D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0885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E4EA7-C5CA-1E48-C703-7FC23F6C6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ADFC0-1E4E-BECF-CF63-D2FF5E623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C9A17-6FDD-1DDA-5AA2-3B2A48F11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EF00F-5682-03F7-26FA-C29EE6804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1BAB98-4868-43A3-AF77-A88DF63441D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2347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18F86-19A7-302C-EABE-B084C42E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3C850-BFB9-DB2B-2248-5EE766259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D322F-54F2-1944-9E98-9B66E5660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14C64-60AF-7419-CA3E-ACD17E14D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1BAB98-4868-43A3-AF77-A88DF63441D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9789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8CFD1-EF7F-0135-F35F-FA45D8EF0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7FA1E-FB8B-2106-FD1C-84A302601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88876-6A33-6723-01C1-BAE7F4A3C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00A32-F64B-66C5-40E4-D9E1FFD51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1BAB98-4868-43A3-AF77-A88DF63441D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5338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2B53-07D0-1079-EBA8-B2421F1EB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38462-EEC5-D15A-3172-05803FA2F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3F9BB1-DB34-D2C7-D1D3-4DB6DCD78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F3022-6E48-9CC2-CD35-987E45AB4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1BAB98-4868-43A3-AF77-A88DF63441D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6581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426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70E908DE-D656-6FCD-FE7C-BFF78DD3C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50481" y="0"/>
            <a:ext cx="3139888" cy="5543044"/>
          </a:xfrm>
          <a:prstGeom prst="rect">
            <a:avLst/>
          </a:prstGeom>
        </p:spPr>
      </p:pic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65747" y="1377389"/>
            <a:ext cx="9172734" cy="202444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FontTx/>
              <a:buNone/>
              <a:defRPr sz="6800" b="0" i="0" baseline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>
                <a:solidFill>
                  <a:srgbClr val="013562"/>
                </a:solidFill>
              </a:defRPr>
            </a:lvl2pPr>
            <a:lvl3pPr marL="914400" indent="0">
              <a:buFontTx/>
              <a:buNone/>
              <a:defRPr>
                <a:solidFill>
                  <a:srgbClr val="013562"/>
                </a:solidFill>
              </a:defRPr>
            </a:lvl3pPr>
            <a:lvl4pPr marL="1371600" indent="0">
              <a:buFontTx/>
              <a:buNone/>
              <a:defRPr>
                <a:solidFill>
                  <a:srgbClr val="013562"/>
                </a:solidFill>
              </a:defRPr>
            </a:lvl4pPr>
            <a:lvl5pPr marL="1828800" indent="0">
              <a:buFontTx/>
              <a:buNone/>
              <a:defRPr>
                <a:solidFill>
                  <a:srgbClr val="013562"/>
                </a:solidFill>
              </a:defRPr>
            </a:lvl5pPr>
          </a:lstStyle>
          <a:p>
            <a:pPr lvl="0"/>
            <a:r>
              <a:rPr lang="en-US" dirty="0"/>
              <a:t>Title slide v1</a:t>
            </a:r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12" hasCustomPrompt="1"/>
          </p:nvPr>
        </p:nvSpPr>
        <p:spPr>
          <a:xfrm>
            <a:off x="665744" y="3558939"/>
            <a:ext cx="9172736" cy="92231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>
              <a:buNone/>
              <a:defRPr sz="32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665744" y="4651317"/>
            <a:ext cx="9172734" cy="522567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Presenter Name(s) </a:t>
            </a:r>
          </a:p>
          <a:p>
            <a:pPr lvl="0"/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665744" y="5343952"/>
            <a:ext cx="4769856" cy="441186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buNone/>
              <a:defRPr sz="2400" b="0" i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092572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2B9436-E8B3-E67E-2147-B2F362007B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900489"/>
            <a:ext cx="12192001" cy="974563"/>
          </a:xfrm>
          <a:prstGeom prst="rect">
            <a:avLst/>
          </a:prstGeom>
        </p:spPr>
      </p:pic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1006997" y="822036"/>
            <a:ext cx="10220446" cy="198234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FontTx/>
              <a:buNone/>
              <a:defRPr sz="68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>
                <a:solidFill>
                  <a:srgbClr val="013562"/>
                </a:solidFill>
              </a:defRPr>
            </a:lvl2pPr>
            <a:lvl3pPr marL="914400" indent="0">
              <a:buFontTx/>
              <a:buNone/>
              <a:defRPr>
                <a:solidFill>
                  <a:srgbClr val="013562"/>
                </a:solidFill>
              </a:defRPr>
            </a:lvl3pPr>
            <a:lvl4pPr marL="1371600" indent="0">
              <a:buFontTx/>
              <a:buNone/>
              <a:defRPr>
                <a:solidFill>
                  <a:srgbClr val="013562"/>
                </a:solidFill>
              </a:defRPr>
            </a:lvl4pPr>
            <a:lvl5pPr marL="1828800" indent="0">
              <a:buFontTx/>
              <a:buNone/>
              <a:defRPr>
                <a:solidFill>
                  <a:srgbClr val="013562"/>
                </a:solidFill>
              </a:defRPr>
            </a:lvl5pPr>
          </a:lstStyle>
          <a:p>
            <a:pPr lvl="0"/>
            <a:r>
              <a:rPr lang="en-US" dirty="0"/>
              <a:t>Title slide v2</a:t>
            </a:r>
          </a:p>
        </p:txBody>
      </p:sp>
      <p:sp>
        <p:nvSpPr>
          <p:cNvPr id="5" name="Text Placeholder 23"/>
          <p:cNvSpPr>
            <a:spLocks noGrp="1"/>
          </p:cNvSpPr>
          <p:nvPr>
            <p:ph type="body" sz="quarter" idx="12" hasCustomPrompt="1"/>
          </p:nvPr>
        </p:nvSpPr>
        <p:spPr>
          <a:xfrm>
            <a:off x="1006994" y="2945980"/>
            <a:ext cx="10220447" cy="843956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 algn="l">
              <a:buNone/>
              <a:defRPr sz="32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1006995" y="3948544"/>
            <a:ext cx="10220446" cy="565511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Presenter Name(s)</a:t>
            </a:r>
          </a:p>
        </p:txBody>
      </p:sp>
      <p:sp>
        <p:nvSpPr>
          <p:cNvPr id="6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1006993" y="4672663"/>
            <a:ext cx="5139807" cy="441186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 algn="l">
              <a:spcBef>
                <a:spcPts val="0"/>
              </a:spcBef>
              <a:buNone/>
              <a:defRPr sz="2400" b="0" i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b="0" i="0">
                <a:solidFill>
                  <a:srgbClr val="0135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965518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533400"/>
            <a:ext cx="10515599" cy="9044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48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922793" y="6319366"/>
            <a:ext cx="8620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595959"/>
                </a:solidFill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CFA0F11A-6651-46F3-8E1F-FCEF70504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950CF65D-E111-4E44-3FD6-AF77845694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50894"/>
            <a:ext cx="10515600" cy="4679085"/>
          </a:xfrm>
          <a:prstGeom prst="rect">
            <a:avLst/>
          </a:prstGeom>
        </p:spPr>
        <p:txBody>
          <a:bodyPr>
            <a:normAutofit/>
          </a:bodyPr>
          <a:lstStyle>
            <a:lvl1pPr marL="261938" indent="-261938">
              <a:lnSpc>
                <a:spcPct val="100000"/>
              </a:lnSpc>
              <a:buClr>
                <a:srgbClr val="003E7A"/>
              </a:buClr>
              <a:defRPr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4250" indent="-355600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617663" indent="-347663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0039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bullets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950CF65D-E111-4E44-3FD6-AF77845694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53464"/>
            <a:ext cx="10515600" cy="4269612"/>
          </a:xfrm>
          <a:prstGeom prst="rect">
            <a:avLst/>
          </a:prstGeom>
        </p:spPr>
        <p:txBody>
          <a:bodyPr>
            <a:normAutofit/>
          </a:bodyPr>
          <a:lstStyle>
            <a:lvl1pPr marL="261938" indent="-261938">
              <a:lnSpc>
                <a:spcPct val="100000"/>
              </a:lnSpc>
              <a:buClr>
                <a:srgbClr val="003E7A"/>
              </a:buClr>
              <a:defRPr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4250" indent="-355600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611313" indent="-341313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Add text (slide with logo)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9CDDAF-E1F5-CD18-B646-61D220C365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533400"/>
            <a:ext cx="10515600" cy="9044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48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922793" y="6319366"/>
            <a:ext cx="8620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595959"/>
                </a:solidFill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CFA0F11A-6651-46F3-8E1F-FCEF70504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847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31766B-8FA0-50E2-75D9-4590323E2F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33400"/>
            <a:ext cx="10515599" cy="9044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48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922793" y="6319366"/>
            <a:ext cx="8620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595959"/>
                </a:solidFill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CFA0F11A-6651-46F3-8E1F-FCEF70504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50CF65D-E111-4E44-3FD6-AF77845694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48384"/>
            <a:ext cx="5013959" cy="4679695"/>
          </a:xfrm>
          <a:prstGeom prst="rect">
            <a:avLst/>
          </a:prstGeom>
        </p:spPr>
        <p:txBody>
          <a:bodyPr>
            <a:normAutofit/>
          </a:bodyPr>
          <a:lstStyle>
            <a:lvl1pPr marL="261938" indent="-261938">
              <a:lnSpc>
                <a:spcPct val="100000"/>
              </a:lnSpc>
              <a:buClr>
                <a:srgbClr val="003E7A"/>
              </a:buClr>
              <a:defRPr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4250" indent="-355600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617663" indent="-347663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Text column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50CF65D-E111-4E44-3FD6-AF77845694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9840" y="1548384"/>
            <a:ext cx="5013959" cy="4679695"/>
          </a:xfrm>
          <a:prstGeom prst="rect">
            <a:avLst/>
          </a:prstGeom>
        </p:spPr>
        <p:txBody>
          <a:bodyPr>
            <a:normAutofit/>
          </a:bodyPr>
          <a:lstStyle>
            <a:lvl1pPr marL="261938" indent="-261938">
              <a:lnSpc>
                <a:spcPct val="100000"/>
              </a:lnSpc>
              <a:buClr>
                <a:srgbClr val="003E7A"/>
              </a:buClr>
              <a:defRPr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4250" indent="-355600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617663" indent="-347663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Text column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66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w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rectangular object with a white background&#10;&#10;Description automatically generated">
            <a:extLst>
              <a:ext uri="{FF2B5EF4-FFF2-40B4-BE49-F238E27FC236}">
                <a16:creationId xmlns:a16="http://schemas.microsoft.com/office/drawing/2014/main" id="{CB225169-6B99-FF04-011D-BD4ECDB307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82508"/>
            <a:ext cx="5083277" cy="875492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2109375-392D-2FEE-257A-6330B65FCF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33400"/>
            <a:ext cx="10515599" cy="9044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48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922793" y="6319366"/>
            <a:ext cx="8620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595959"/>
                </a:solidFill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CFA0F11A-6651-46F3-8E1F-FCEF70504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50CF65D-E111-4E44-3FD6-AF77845694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48384"/>
            <a:ext cx="5013959" cy="4447302"/>
          </a:xfrm>
          <a:prstGeom prst="rect">
            <a:avLst/>
          </a:prstGeom>
        </p:spPr>
        <p:txBody>
          <a:bodyPr>
            <a:normAutofit/>
          </a:bodyPr>
          <a:lstStyle>
            <a:lvl1pPr marL="261938" indent="-261938">
              <a:lnSpc>
                <a:spcPct val="100000"/>
              </a:lnSpc>
              <a:buClr>
                <a:srgbClr val="003E7A"/>
              </a:buClr>
              <a:defRPr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4250" indent="-355600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617663" indent="-347663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50CF65D-E111-4E44-3FD6-AF77845694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9840" y="1548384"/>
            <a:ext cx="5013959" cy="4447302"/>
          </a:xfrm>
          <a:prstGeom prst="rect">
            <a:avLst/>
          </a:prstGeom>
        </p:spPr>
        <p:txBody>
          <a:bodyPr>
            <a:normAutofit/>
          </a:bodyPr>
          <a:lstStyle>
            <a:lvl1pPr marL="261938" indent="-261938">
              <a:lnSpc>
                <a:spcPct val="100000"/>
              </a:lnSpc>
              <a:buClr>
                <a:srgbClr val="003E7A"/>
              </a:buClr>
              <a:defRPr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4250" indent="-355600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617663" indent="-347663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8367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97EC46-9535-1F77-3B55-89B1CAFDB8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157416"/>
            <a:ext cx="12192000" cy="1316976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690282"/>
            <a:ext cx="10515599" cy="303007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80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922793" y="6319366"/>
            <a:ext cx="8620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595959"/>
                </a:solidFill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CFA0F11A-6651-46F3-8E1F-FCEF70504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5800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6149592" y="1553527"/>
            <a:ext cx="5204208" cy="46663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/>
              <a:t>Click icon to add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8274B-1F8B-143E-6855-3C80AD0EC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533400"/>
            <a:ext cx="10515599" cy="9044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48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922793" y="6319366"/>
            <a:ext cx="8620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595959"/>
                </a:solidFill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CFA0F11A-6651-46F3-8E1F-FCEF70504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0CF65D-E111-4E44-3FD6-AF77845694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54481"/>
            <a:ext cx="5200859" cy="4665438"/>
          </a:xfrm>
          <a:prstGeom prst="rect">
            <a:avLst/>
          </a:prstGeom>
        </p:spPr>
        <p:txBody>
          <a:bodyPr>
            <a:normAutofit/>
          </a:bodyPr>
          <a:lstStyle>
            <a:lvl1pPr marL="261938" indent="-261938">
              <a:lnSpc>
                <a:spcPct val="100000"/>
              </a:lnSpc>
              <a:buClr>
                <a:srgbClr val="003E7A"/>
              </a:buClr>
              <a:defRPr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4250" indent="-355600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617663" indent="-347663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lang="en-US" sz="28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Text with photo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6077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 with picture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6149592" y="1553527"/>
            <a:ext cx="5204208" cy="42986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8274B-1F8B-143E-6855-3C80AD0EC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533400"/>
            <a:ext cx="10515599" cy="9044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48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922793" y="6319366"/>
            <a:ext cx="8620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595959"/>
                </a:solidFill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CFA0F11A-6651-46F3-8E1F-FCEF70504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0CF65D-E111-4E44-3FD6-AF77845694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54480"/>
            <a:ext cx="5200859" cy="4297755"/>
          </a:xfrm>
          <a:prstGeom prst="rect">
            <a:avLst/>
          </a:prstGeom>
        </p:spPr>
        <p:txBody>
          <a:bodyPr>
            <a:normAutofit/>
          </a:bodyPr>
          <a:lstStyle>
            <a:lvl1pPr marL="261938" indent="-261938">
              <a:lnSpc>
                <a:spcPct val="100000"/>
              </a:lnSpc>
              <a:buClr>
                <a:srgbClr val="003E7A"/>
              </a:buClr>
              <a:defRPr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4250" indent="-355600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617663" indent="-347663">
              <a:lnSpc>
                <a:spcPct val="100000"/>
              </a:lnSpc>
              <a:buClr>
                <a:srgbClr val="003E7A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Text with photo (slide with logo)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341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7F2BAE25-8E0D-AA29-1D42-053378AD2D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82162" y="4482"/>
            <a:ext cx="2509838" cy="61228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198" y="1290918"/>
            <a:ext cx="8673663" cy="43951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quote or content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922793" y="6319366"/>
            <a:ext cx="8620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595959"/>
                </a:solidFill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CFA0F11A-6651-46F3-8E1F-FCEF70504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9777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838199" y="1554480"/>
            <a:ext cx="10515599" cy="46385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image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DAA4FCE-5D00-82CD-ABF5-5318C9F19C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533400"/>
            <a:ext cx="10515598" cy="9044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48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922793" y="6319366"/>
            <a:ext cx="8620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595959"/>
                </a:solidFill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CFA0F11A-6651-46F3-8E1F-FCEF70504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101136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6B0B0F73-1FE1-B81B-F894-AF4E183CD76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38199" y="1554480"/>
            <a:ext cx="10515599" cy="4273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/>
              <a:t>Click icon to add image (slide with logo)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552D9-7CEA-8517-BD7B-0280A9944D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533400"/>
            <a:ext cx="10515599" cy="9044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48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922793" y="6319366"/>
            <a:ext cx="8620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595959"/>
                </a:solidFill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CFA0F11A-6651-46F3-8E1F-FCEF70504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7709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838200" y="699247"/>
            <a:ext cx="10515600" cy="54678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/>
              <a:t>Click icon to add image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922793" y="6319366"/>
            <a:ext cx="8620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595959"/>
                </a:solidFill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CFA0F11A-6651-46F3-8E1F-FCEF70504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468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only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838200" y="699248"/>
            <a:ext cx="10515600" cy="51087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baseline="0"/>
            </a:lvl1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icon to add image (slide with logo)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922793" y="6319366"/>
            <a:ext cx="8620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595959"/>
                </a:solidFill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CFA0F11A-6651-46F3-8E1F-FCEF70504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5274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38663"/>
            <a:ext cx="12192000" cy="137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868101"/>
            <a:ext cx="10515599" cy="114116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80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838199" y="2176043"/>
            <a:ext cx="5141977" cy="240892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800" b="0" i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Contact info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211826" y="2176043"/>
            <a:ext cx="5141977" cy="240892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800" b="0" i="0" baseline="0">
                <a:solidFill>
                  <a:srgbClr val="003E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>
              <a:buNone/>
              <a:defRPr sz="6800" b="0" i="0">
                <a:solidFill>
                  <a:srgbClr val="0135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Contact info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79607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795" r:id="rId2"/>
    <p:sldLayoutId id="2147483797" r:id="rId3"/>
    <p:sldLayoutId id="2147483800" r:id="rId4"/>
    <p:sldLayoutId id="2147483815" r:id="rId5"/>
    <p:sldLayoutId id="2147483801" r:id="rId6"/>
    <p:sldLayoutId id="2147483811" r:id="rId7"/>
    <p:sldLayoutId id="2147483803" r:id="rId8"/>
    <p:sldLayoutId id="2147483804" r:id="rId9"/>
    <p:sldLayoutId id="2147483817" r:id="rId10"/>
    <p:sldLayoutId id="2147483805" r:id="rId11"/>
    <p:sldLayoutId id="2147483807" r:id="rId12"/>
    <p:sldLayoutId id="2147483806" r:id="rId13"/>
    <p:sldLayoutId id="2147483814" r:id="rId14"/>
    <p:sldLayoutId id="2147483808" r:id="rId15"/>
    <p:sldLayoutId id="2147483812" r:id="rId16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latin typeface="+mn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alibri" panose="020F05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alibri" panose="020F05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alibri" panose="020F05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alibri" panose="020F05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alibri" panose="020F05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alibri" panose="020F05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alibri" panose="020F05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alibri" panose="020F05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5.jpeg"/><Relationship Id="rId3" Type="http://schemas.openxmlformats.org/officeDocument/2006/relationships/image" Target="../media/image7.emf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5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10" Type="http://schemas.openxmlformats.org/officeDocument/2006/relationships/image" Target="../media/image30.svg"/><Relationship Id="rId4" Type="http://schemas.openxmlformats.org/officeDocument/2006/relationships/image" Target="../media/image7.emf"/><Relationship Id="rId9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frazmathapp.streamlit.app/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afrazdiseasedashboard.streamlit.app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phsa.ca/career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A Career in</a:t>
            </a:r>
          </a:p>
          <a:p>
            <a:r>
              <a:rPr lang="en-CA" dirty="0"/>
              <a:t>Data Science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Using Data to protect and transform Public Health Management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Afraz Arif Khan- Data Scientist II PHSA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dirty="0"/>
              <a:t>24</a:t>
            </a:r>
            <a:r>
              <a:rPr lang="en-CA" baseline="30000" dirty="0"/>
              <a:t>th</a:t>
            </a:r>
            <a:r>
              <a:rPr lang="en-CA" dirty="0"/>
              <a:t> April 2026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3708" y="5685466"/>
            <a:ext cx="1846263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0484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5590F1-3C91-B73C-8E51-AC604F1D42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91788" y="6419850"/>
            <a:ext cx="86201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1AF8A52-B094-491B-9258-65036DA7A1C8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04A322-370C-47C1-45B8-F45642CEEF55}"/>
              </a:ext>
            </a:extLst>
          </p:cNvPr>
          <p:cNvSpPr/>
          <p:nvPr/>
        </p:nvSpPr>
        <p:spPr>
          <a:xfrm>
            <a:off x="2030916" y="2023276"/>
            <a:ext cx="8130168" cy="3764756"/>
          </a:xfrm>
          <a:prstGeom prst="roundRect">
            <a:avLst>
              <a:gd name="adj" fmla="val 3365"/>
            </a:avLst>
          </a:prstGeom>
          <a:solidFill>
            <a:srgbClr val="FFFFFF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CA" sz="2200" i="1" dirty="0"/>
              <a:t>We gratefully acknowledge that we are gathered on the </a:t>
            </a:r>
            <a:r>
              <a:rPr lang="en-CA" sz="2200" i="1" dirty="0" err="1"/>
              <a:t>unceded</a:t>
            </a:r>
            <a:r>
              <a:rPr lang="en-CA" sz="2200" i="1" dirty="0"/>
              <a:t>, traditional, and ancestral lands of First Nations in this place currently known as British Columbia where we work, play and live. </a:t>
            </a:r>
            <a:r>
              <a:rPr lang="en-CA" sz="2200" dirty="0"/>
              <a:t>​</a:t>
            </a:r>
            <a:endParaRPr lang="en-CA" sz="2200" dirty="0">
              <a:latin typeface="Segoe UI" panose="020B0502040204020203" pitchFamily="34" charset="0"/>
            </a:endParaRPr>
          </a:p>
          <a:p>
            <a:pPr algn="ctr"/>
            <a:r>
              <a:rPr lang="en-CA" dirty="0"/>
              <a:t>​</a:t>
            </a:r>
            <a:endParaRPr lang="en-CA" dirty="0">
              <a:latin typeface="Segoe UI" panose="020B0502040204020203" pitchFamily="34" charset="0"/>
            </a:endParaRPr>
          </a:p>
          <a:p>
            <a:pPr algn="ctr"/>
            <a:r>
              <a:rPr lang="en-CA" sz="2200" i="1" dirty="0"/>
              <a:t>First Nations have been responsible for stewarding </a:t>
            </a:r>
            <a:r>
              <a:rPr lang="en-CA" sz="2200" dirty="0"/>
              <a:t>​</a:t>
            </a:r>
            <a:br>
              <a:rPr lang="en-CA" sz="2200" dirty="0"/>
            </a:br>
            <a:r>
              <a:rPr lang="en-CA" sz="2200" i="1" dirty="0"/>
              <a:t>this land for all time and we give thanks </a:t>
            </a:r>
            <a:r>
              <a:rPr lang="en-CA" sz="2200" dirty="0"/>
              <a:t>​</a:t>
            </a:r>
            <a:br>
              <a:rPr lang="en-CA" sz="2200" dirty="0"/>
            </a:br>
            <a:r>
              <a:rPr lang="en-CA" sz="2200" i="1" dirty="0"/>
              <a:t>as uninvited guests on these lands.  </a:t>
            </a:r>
            <a:r>
              <a:rPr lang="en-CA" sz="2200" dirty="0"/>
              <a:t>​</a:t>
            </a:r>
            <a:endParaRPr lang="en-CA" sz="2200" dirty="0">
              <a:latin typeface="Segoe UI" panose="020B0502040204020203" pitchFamily="34" charset="0"/>
            </a:endParaRPr>
          </a:p>
          <a:p>
            <a:pPr algn="ctr"/>
            <a:r>
              <a:rPr lang="en-CA" dirty="0"/>
              <a:t>​</a:t>
            </a:r>
            <a:endParaRPr lang="en-CA" dirty="0">
              <a:latin typeface="Segoe UI" panose="020B0502040204020203" pitchFamily="34" charset="0"/>
            </a:endParaRPr>
          </a:p>
          <a:p>
            <a:pPr algn="ctr"/>
            <a:r>
              <a:rPr lang="en-CA" sz="2200" i="1" dirty="0"/>
              <a:t>We recognize the historic and ongoing colonial </a:t>
            </a:r>
            <a:br>
              <a:rPr lang="en-CA" sz="2200" i="1" dirty="0"/>
            </a:br>
            <a:r>
              <a:rPr lang="en-CA" sz="2200" i="1" dirty="0"/>
              <a:t>impacts on all</a:t>
            </a:r>
            <a:r>
              <a:rPr lang="en-CA" sz="2200" dirty="0"/>
              <a:t>​ </a:t>
            </a:r>
            <a:r>
              <a:rPr lang="en-CA" sz="2200" i="1" dirty="0"/>
              <a:t>First Nations, Métis Peoples </a:t>
            </a:r>
            <a:br>
              <a:rPr lang="en-CA" sz="2200" i="1" dirty="0"/>
            </a:br>
            <a:r>
              <a:rPr lang="en-CA" sz="2200" i="1" dirty="0"/>
              <a:t>and Inuit that call this land home. </a:t>
            </a:r>
            <a:r>
              <a:rPr lang="en-CA" sz="2200" dirty="0"/>
              <a:t>​</a:t>
            </a:r>
            <a:endParaRPr lang="en-CA" sz="2200" dirty="0">
              <a:latin typeface="Segoe UI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CB2A624-E83C-0F5C-CC46-651314717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978" y="559364"/>
            <a:ext cx="1933893" cy="812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196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79635-3237-D2AB-F5D6-88EC7ED03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FD05D8-F33A-6092-6498-7805832FB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360" y="322033"/>
            <a:ext cx="10515599" cy="904444"/>
          </a:xfrm>
        </p:spPr>
        <p:txBody>
          <a:bodyPr/>
          <a:lstStyle/>
          <a:p>
            <a:r>
              <a:rPr lang="en-CA" dirty="0"/>
              <a:t>Reflection of Journey</a:t>
            </a:r>
          </a:p>
        </p:txBody>
      </p:sp>
      <p:sp>
        <p:nvSpPr>
          <p:cNvPr id="86" name="Text 4">
            <a:extLst>
              <a:ext uri="{FF2B5EF4-FFF2-40B4-BE49-F238E27FC236}">
                <a16:creationId xmlns:a16="http://schemas.microsoft.com/office/drawing/2014/main" id="{30DB74A6-B5BB-CBF7-4855-1C92BC1C571C}"/>
              </a:ext>
            </a:extLst>
          </p:cNvPr>
          <p:cNvSpPr/>
          <p:nvPr/>
        </p:nvSpPr>
        <p:spPr>
          <a:xfrm>
            <a:off x="213360" y="1515046"/>
            <a:ext cx="2356109" cy="378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II</a:t>
            </a:r>
            <a:endParaRPr lang="en-US" sz="2400" dirty="0"/>
          </a:p>
        </p:txBody>
      </p:sp>
      <p:sp>
        <p:nvSpPr>
          <p:cNvPr id="87" name="Text 5">
            <a:extLst>
              <a:ext uri="{FF2B5EF4-FFF2-40B4-BE49-F238E27FC236}">
                <a16:creationId xmlns:a16="http://schemas.microsoft.com/office/drawing/2014/main" id="{97DBA933-374E-F7F2-E2F8-56B6222E9084}"/>
              </a:ext>
            </a:extLst>
          </p:cNvPr>
          <p:cNvSpPr/>
          <p:nvPr/>
        </p:nvSpPr>
        <p:spPr>
          <a:xfrm>
            <a:off x="397417" y="1874959"/>
            <a:ext cx="2117188" cy="210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Centre for Disease Control</a:t>
            </a:r>
            <a:endParaRPr lang="en-US" sz="1200" dirty="0"/>
          </a:p>
        </p:txBody>
      </p:sp>
      <p:sp>
        <p:nvSpPr>
          <p:cNvPr id="88" name="Shape 6">
            <a:extLst>
              <a:ext uri="{FF2B5EF4-FFF2-40B4-BE49-F238E27FC236}">
                <a16:creationId xmlns:a16="http://schemas.microsoft.com/office/drawing/2014/main" id="{465F95DE-17B6-8325-57D3-6199C49F5F66}"/>
              </a:ext>
            </a:extLst>
          </p:cNvPr>
          <p:cNvSpPr/>
          <p:nvPr/>
        </p:nvSpPr>
        <p:spPr>
          <a:xfrm>
            <a:off x="704093" y="2127663"/>
            <a:ext cx="1554480" cy="0"/>
          </a:xfrm>
          <a:prstGeom prst="line">
            <a:avLst/>
          </a:prstGeom>
          <a:noFill/>
          <a:ln w="9525">
            <a:solidFill>
              <a:srgbClr val="CCDF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9" name="Image 1" descr="preencoded.png">
            <a:extLst>
              <a:ext uri="{FF2B5EF4-FFF2-40B4-BE49-F238E27FC236}">
                <a16:creationId xmlns:a16="http://schemas.microsoft.com/office/drawing/2014/main" id="{1B726B17-029D-8A2D-DFE1-2353321D1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5" y="2410190"/>
            <a:ext cx="201168" cy="201168"/>
          </a:xfrm>
          <a:prstGeom prst="rect">
            <a:avLst/>
          </a:prstGeom>
        </p:spPr>
      </p:pic>
      <p:sp>
        <p:nvSpPr>
          <p:cNvPr id="90" name="Text 7">
            <a:extLst>
              <a:ext uri="{FF2B5EF4-FFF2-40B4-BE49-F238E27FC236}">
                <a16:creationId xmlns:a16="http://schemas.microsoft.com/office/drawing/2014/main" id="{4CA40165-FD99-7C8E-326C-C654EE158683}"/>
              </a:ext>
            </a:extLst>
          </p:cNvPr>
          <p:cNvSpPr/>
          <p:nvPr/>
        </p:nvSpPr>
        <p:spPr>
          <a:xfrm>
            <a:off x="758957" y="239190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&amp; data to protect public health in BC</a:t>
            </a:r>
            <a:endParaRPr lang="en-US" sz="1400" dirty="0"/>
          </a:p>
        </p:txBody>
      </p:sp>
      <p:sp>
        <p:nvSpPr>
          <p:cNvPr id="91" name="Shape 8">
            <a:extLst>
              <a:ext uri="{FF2B5EF4-FFF2-40B4-BE49-F238E27FC236}">
                <a16:creationId xmlns:a16="http://schemas.microsoft.com/office/drawing/2014/main" id="{3A17CB77-B3C9-5245-0428-32DD016A02E5}"/>
              </a:ext>
            </a:extLst>
          </p:cNvPr>
          <p:cNvSpPr/>
          <p:nvPr/>
        </p:nvSpPr>
        <p:spPr>
          <a:xfrm>
            <a:off x="502925" y="3854147"/>
            <a:ext cx="1920240" cy="0"/>
          </a:xfrm>
          <a:prstGeom prst="line">
            <a:avLst/>
          </a:prstGeom>
          <a:noFill/>
          <a:ln w="635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2" name="Image 2" descr="preencoded.png">
            <a:extLst>
              <a:ext uri="{FF2B5EF4-FFF2-40B4-BE49-F238E27FC236}">
                <a16:creationId xmlns:a16="http://schemas.microsoft.com/office/drawing/2014/main" id="{86F3CB5C-C48A-12E8-FAAA-D29B4CF04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5" y="3274805"/>
            <a:ext cx="201168" cy="201168"/>
          </a:xfrm>
          <a:prstGeom prst="rect">
            <a:avLst/>
          </a:prstGeom>
        </p:spPr>
      </p:pic>
      <p:sp>
        <p:nvSpPr>
          <p:cNvPr id="93" name="Text 9">
            <a:extLst>
              <a:ext uri="{FF2B5EF4-FFF2-40B4-BE49-F238E27FC236}">
                <a16:creationId xmlns:a16="http://schemas.microsoft.com/office/drawing/2014/main" id="{65D0F821-0E94-B834-51D7-BDBFD81DE9B6}"/>
              </a:ext>
            </a:extLst>
          </p:cNvPr>
          <p:cNvSpPr/>
          <p:nvPr/>
        </p:nvSpPr>
        <p:spPr>
          <a:xfrm>
            <a:off x="697997" y="3256517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 in outbreak modelling, hospital burden &amp; risk prediction</a:t>
            </a:r>
            <a:endParaRPr lang="en-US" sz="1400" dirty="0"/>
          </a:p>
        </p:txBody>
      </p:sp>
      <p:sp>
        <p:nvSpPr>
          <p:cNvPr id="94" name="Shape 10">
            <a:extLst>
              <a:ext uri="{FF2B5EF4-FFF2-40B4-BE49-F238E27FC236}">
                <a16:creationId xmlns:a16="http://schemas.microsoft.com/office/drawing/2014/main" id="{D89927C1-C0B3-E97D-9355-695ACF53681A}"/>
              </a:ext>
            </a:extLst>
          </p:cNvPr>
          <p:cNvSpPr/>
          <p:nvPr/>
        </p:nvSpPr>
        <p:spPr>
          <a:xfrm>
            <a:off x="502925" y="4502064"/>
            <a:ext cx="1920240" cy="0"/>
          </a:xfrm>
          <a:prstGeom prst="line">
            <a:avLst/>
          </a:prstGeom>
          <a:noFill/>
          <a:ln w="635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5" name="Image 3" descr="preencoded.png">
            <a:extLst>
              <a:ext uri="{FF2B5EF4-FFF2-40B4-BE49-F238E27FC236}">
                <a16:creationId xmlns:a16="http://schemas.microsoft.com/office/drawing/2014/main" id="{D5200171-0056-DEA0-43B3-E50DC4E54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5" y="4059697"/>
            <a:ext cx="201168" cy="201168"/>
          </a:xfrm>
          <a:prstGeom prst="rect">
            <a:avLst/>
          </a:prstGeom>
        </p:spPr>
      </p:pic>
      <p:sp>
        <p:nvSpPr>
          <p:cNvPr id="96" name="Text 11">
            <a:extLst>
              <a:ext uri="{FF2B5EF4-FFF2-40B4-BE49-F238E27FC236}">
                <a16:creationId xmlns:a16="http://schemas.microsoft.com/office/drawing/2014/main" id="{B715EA21-382B-CC06-94FD-E2F701A80788}"/>
              </a:ext>
            </a:extLst>
          </p:cNvPr>
          <p:cNvSpPr/>
          <p:nvPr/>
        </p:nvSpPr>
        <p:spPr>
          <a:xfrm>
            <a:off x="697997" y="4041409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 math, science &amp; problem solving</a:t>
            </a:r>
            <a:endParaRPr lang="en-US" sz="1400" dirty="0"/>
          </a:p>
        </p:txBody>
      </p:sp>
      <p:sp>
        <p:nvSpPr>
          <p:cNvPr id="97" name="Shape 12">
            <a:extLst>
              <a:ext uri="{FF2B5EF4-FFF2-40B4-BE49-F238E27FC236}">
                <a16:creationId xmlns:a16="http://schemas.microsoft.com/office/drawing/2014/main" id="{16E4272E-F194-5074-B216-A0B20E9B656A}"/>
              </a:ext>
            </a:extLst>
          </p:cNvPr>
          <p:cNvSpPr/>
          <p:nvPr/>
        </p:nvSpPr>
        <p:spPr>
          <a:xfrm>
            <a:off x="502925" y="2896603"/>
            <a:ext cx="1920240" cy="0"/>
          </a:xfrm>
          <a:prstGeom prst="line">
            <a:avLst/>
          </a:prstGeom>
          <a:noFill/>
          <a:ln w="635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8" name="Image 4" descr="preencoded.png">
            <a:extLst>
              <a:ext uri="{FF2B5EF4-FFF2-40B4-BE49-F238E27FC236}">
                <a16:creationId xmlns:a16="http://schemas.microsoft.com/office/drawing/2014/main" id="{76C20DE0-39D5-FF6A-748B-FD3B344CE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10" y="4890158"/>
            <a:ext cx="201168" cy="201168"/>
          </a:xfrm>
          <a:prstGeom prst="rect">
            <a:avLst/>
          </a:prstGeom>
        </p:spPr>
      </p:pic>
      <p:sp>
        <p:nvSpPr>
          <p:cNvPr id="99" name="Text 13">
            <a:extLst>
              <a:ext uri="{FF2B5EF4-FFF2-40B4-BE49-F238E27FC236}">
                <a16:creationId xmlns:a16="http://schemas.microsoft.com/office/drawing/2014/main" id="{EE75F6E9-CE84-B1A9-B123-075F0FECA8FF}"/>
              </a:ext>
            </a:extLst>
          </p:cNvPr>
          <p:cNvSpPr/>
          <p:nvPr/>
        </p:nvSpPr>
        <p:spPr>
          <a:xfrm>
            <a:off x="700342" y="487187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Didn’t start here- Engineering to Finance to  Data Science</a:t>
            </a:r>
            <a:endParaRPr lang="en-US" sz="1400" dirty="0"/>
          </a:p>
        </p:txBody>
      </p:sp>
      <p:sp>
        <p:nvSpPr>
          <p:cNvPr id="100" name="Shape 14">
            <a:extLst>
              <a:ext uri="{FF2B5EF4-FFF2-40B4-BE49-F238E27FC236}">
                <a16:creationId xmlns:a16="http://schemas.microsoft.com/office/drawing/2014/main" id="{EFE557D2-F1DB-0B76-4E24-96FF79A190E4}"/>
              </a:ext>
            </a:extLst>
          </p:cNvPr>
          <p:cNvSpPr/>
          <p:nvPr/>
        </p:nvSpPr>
        <p:spPr>
          <a:xfrm>
            <a:off x="502925" y="5471320"/>
            <a:ext cx="1920240" cy="0"/>
          </a:xfrm>
          <a:prstGeom prst="line">
            <a:avLst/>
          </a:prstGeom>
          <a:noFill/>
          <a:ln w="635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6">
            <a:extLst>
              <a:ext uri="{FF2B5EF4-FFF2-40B4-BE49-F238E27FC236}">
                <a16:creationId xmlns:a16="http://schemas.microsoft.com/office/drawing/2014/main" id="{F5DDC771-8C90-EE02-0AF5-035B9FF16898}"/>
              </a:ext>
            </a:extLst>
          </p:cNvPr>
          <p:cNvSpPr/>
          <p:nvPr/>
        </p:nvSpPr>
        <p:spPr>
          <a:xfrm>
            <a:off x="697997" y="2918188"/>
            <a:ext cx="1554480" cy="0"/>
          </a:xfrm>
          <a:prstGeom prst="line">
            <a:avLst/>
          </a:prstGeom>
          <a:noFill/>
          <a:ln w="9525">
            <a:solidFill>
              <a:srgbClr val="CCDF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6">
            <a:extLst>
              <a:ext uri="{FF2B5EF4-FFF2-40B4-BE49-F238E27FC236}">
                <a16:creationId xmlns:a16="http://schemas.microsoft.com/office/drawing/2014/main" id="{2B301CAA-77BE-E805-488D-396CF89570D9}"/>
              </a:ext>
            </a:extLst>
          </p:cNvPr>
          <p:cNvSpPr/>
          <p:nvPr/>
        </p:nvSpPr>
        <p:spPr>
          <a:xfrm>
            <a:off x="748640" y="3897768"/>
            <a:ext cx="1554480" cy="0"/>
          </a:xfrm>
          <a:prstGeom prst="line">
            <a:avLst/>
          </a:prstGeom>
          <a:noFill/>
          <a:ln w="9525">
            <a:solidFill>
              <a:srgbClr val="CCDF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6">
            <a:extLst>
              <a:ext uri="{FF2B5EF4-FFF2-40B4-BE49-F238E27FC236}">
                <a16:creationId xmlns:a16="http://schemas.microsoft.com/office/drawing/2014/main" id="{A1DD6723-7FA5-1795-01A0-B526BDC7C28C}"/>
              </a:ext>
            </a:extLst>
          </p:cNvPr>
          <p:cNvSpPr/>
          <p:nvPr/>
        </p:nvSpPr>
        <p:spPr>
          <a:xfrm>
            <a:off x="713471" y="4503227"/>
            <a:ext cx="1554480" cy="0"/>
          </a:xfrm>
          <a:prstGeom prst="line">
            <a:avLst/>
          </a:prstGeom>
          <a:noFill/>
          <a:ln w="9525">
            <a:solidFill>
              <a:srgbClr val="CCDF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lide Number Placeholder 2">
            <a:extLst>
              <a:ext uri="{FF2B5EF4-FFF2-40B4-BE49-F238E27FC236}">
                <a16:creationId xmlns:a16="http://schemas.microsoft.com/office/drawing/2014/main" id="{DC1D3621-F125-DF11-6822-4CA6EBBF0B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793" y="6084906"/>
            <a:ext cx="862012" cy="365125"/>
          </a:xfrm>
        </p:spPr>
        <p:txBody>
          <a:bodyPr/>
          <a:lstStyle/>
          <a:p>
            <a:pPr>
              <a:defRPr/>
            </a:pPr>
            <a:fld id="{CFA0F11A-6651-46F3-8E1F-FCEF705042BA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69" name="Shape 43">
            <a:extLst>
              <a:ext uri="{FF2B5EF4-FFF2-40B4-BE49-F238E27FC236}">
                <a16:creationId xmlns:a16="http://schemas.microsoft.com/office/drawing/2014/main" id="{C52266E9-ADAE-0C80-1A73-482811D56BDD}"/>
              </a:ext>
            </a:extLst>
          </p:cNvPr>
          <p:cNvSpPr/>
          <p:nvPr/>
        </p:nvSpPr>
        <p:spPr>
          <a:xfrm>
            <a:off x="9235440" y="1510012"/>
            <a:ext cx="2743200" cy="2103120"/>
          </a:xfrm>
          <a:prstGeom prst="rect">
            <a:avLst/>
          </a:prstGeom>
          <a:solidFill>
            <a:schemeClr val="accent1">
              <a:alpha val="16000"/>
            </a:schemeClr>
          </a:solidFill>
          <a:ln w="9525">
            <a:solidFill>
              <a:srgbClr val="CCDFE3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0" name="Image 10" descr="preencoded.png">
            <a:extLst>
              <a:ext uri="{FF2B5EF4-FFF2-40B4-BE49-F238E27FC236}">
                <a16:creationId xmlns:a16="http://schemas.microsoft.com/office/drawing/2014/main" id="{643B7245-E222-E105-1C09-1F697C5C83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2" y="1592308"/>
            <a:ext cx="256032" cy="256032"/>
          </a:xfrm>
          <a:prstGeom prst="rect">
            <a:avLst/>
          </a:prstGeom>
        </p:spPr>
      </p:pic>
      <p:sp>
        <p:nvSpPr>
          <p:cNvPr id="71" name="Text 44">
            <a:extLst>
              <a:ext uri="{FF2B5EF4-FFF2-40B4-BE49-F238E27FC236}">
                <a16:creationId xmlns:a16="http://schemas.microsoft.com/office/drawing/2014/main" id="{259858B0-95AB-A223-9356-AA861E2F45F4}"/>
              </a:ext>
            </a:extLst>
          </p:cNvPr>
          <p:cNvSpPr/>
          <p:nvPr/>
        </p:nvSpPr>
        <p:spPr>
          <a:xfrm>
            <a:off x="9619488" y="15923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2400" dirty="0"/>
          </a:p>
        </p:txBody>
      </p:sp>
      <p:sp>
        <p:nvSpPr>
          <p:cNvPr id="73" name="Text 46">
            <a:extLst>
              <a:ext uri="{FF2B5EF4-FFF2-40B4-BE49-F238E27FC236}">
                <a16:creationId xmlns:a16="http://schemas.microsoft.com/office/drawing/2014/main" id="{C89D049C-C846-8A0A-6DA3-CF2EE6322FB6}"/>
              </a:ext>
            </a:extLst>
          </p:cNvPr>
          <p:cNvSpPr/>
          <p:nvPr/>
        </p:nvSpPr>
        <p:spPr>
          <a:xfrm>
            <a:off x="9509760" y="19397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 Electrical Engineering</a:t>
            </a:r>
            <a:endParaRPr lang="en-US" sz="1400" dirty="0"/>
          </a:p>
        </p:txBody>
      </p:sp>
      <p:sp>
        <p:nvSpPr>
          <p:cNvPr id="74" name="Text 47">
            <a:extLst>
              <a:ext uri="{FF2B5EF4-FFF2-40B4-BE49-F238E27FC236}">
                <a16:creationId xmlns:a16="http://schemas.microsoft.com/office/drawing/2014/main" id="{58E276FE-B384-51D0-8C40-4E5FF675B18F}"/>
              </a:ext>
            </a:extLst>
          </p:cNvPr>
          <p:cNvSpPr/>
          <p:nvPr/>
        </p:nvSpPr>
        <p:spPr>
          <a:xfrm>
            <a:off x="9482328" y="2155748"/>
            <a:ext cx="2423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 College London</a:t>
            </a:r>
            <a:endParaRPr lang="en-US" sz="1400" dirty="0"/>
          </a:p>
        </p:txBody>
      </p:sp>
      <p:sp>
        <p:nvSpPr>
          <p:cNvPr id="75" name="Text 48">
            <a:extLst>
              <a:ext uri="{FF2B5EF4-FFF2-40B4-BE49-F238E27FC236}">
                <a16:creationId xmlns:a16="http://schemas.microsoft.com/office/drawing/2014/main" id="{A5757DFF-F38E-4D33-08FE-69B29AFDAB93}"/>
              </a:ext>
            </a:extLst>
          </p:cNvPr>
          <p:cNvSpPr/>
          <p:nvPr/>
        </p:nvSpPr>
        <p:spPr>
          <a:xfrm>
            <a:off x="9509760" y="2383357"/>
            <a:ext cx="2423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– 2018</a:t>
            </a:r>
            <a:endParaRPr lang="en-US" sz="1400" dirty="0"/>
          </a:p>
        </p:txBody>
      </p:sp>
      <p:sp>
        <p:nvSpPr>
          <p:cNvPr id="77" name="Text 50">
            <a:extLst>
              <a:ext uri="{FF2B5EF4-FFF2-40B4-BE49-F238E27FC236}">
                <a16:creationId xmlns:a16="http://schemas.microsoft.com/office/drawing/2014/main" id="{42845FD0-5959-11EF-7DAA-4FB41BCA4E5A}"/>
              </a:ext>
            </a:extLst>
          </p:cNvPr>
          <p:cNvSpPr/>
          <p:nvPr/>
        </p:nvSpPr>
        <p:spPr>
          <a:xfrm>
            <a:off x="9509760" y="266601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Finance</a:t>
            </a:r>
            <a:endParaRPr lang="en-US" sz="1400" dirty="0"/>
          </a:p>
        </p:txBody>
      </p:sp>
      <p:sp>
        <p:nvSpPr>
          <p:cNvPr id="78" name="Text 51">
            <a:extLst>
              <a:ext uri="{FF2B5EF4-FFF2-40B4-BE49-F238E27FC236}">
                <a16:creationId xmlns:a16="http://schemas.microsoft.com/office/drawing/2014/main" id="{F5463176-BEBB-F8BE-F770-46751E99F277}"/>
              </a:ext>
            </a:extLst>
          </p:cNvPr>
          <p:cNvSpPr/>
          <p:nvPr/>
        </p:nvSpPr>
        <p:spPr>
          <a:xfrm>
            <a:off x="9509760" y="2899183"/>
            <a:ext cx="2423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British Columbia</a:t>
            </a:r>
            <a:endParaRPr lang="en-US" sz="1400" dirty="0"/>
          </a:p>
        </p:txBody>
      </p:sp>
      <p:sp>
        <p:nvSpPr>
          <p:cNvPr id="79" name="Text 52">
            <a:extLst>
              <a:ext uri="{FF2B5EF4-FFF2-40B4-BE49-F238E27FC236}">
                <a16:creationId xmlns:a16="http://schemas.microsoft.com/office/drawing/2014/main" id="{DAC1DA08-4F48-6F79-81CF-9FF00667FEF1}"/>
              </a:ext>
            </a:extLst>
          </p:cNvPr>
          <p:cNvSpPr/>
          <p:nvPr/>
        </p:nvSpPr>
        <p:spPr>
          <a:xfrm>
            <a:off x="9509760" y="3129026"/>
            <a:ext cx="2423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2021</a:t>
            </a:r>
            <a:endParaRPr lang="en-US" sz="1400" dirty="0"/>
          </a:p>
        </p:txBody>
      </p:sp>
      <p:sp>
        <p:nvSpPr>
          <p:cNvPr id="80" name="Shape 53">
            <a:extLst>
              <a:ext uri="{FF2B5EF4-FFF2-40B4-BE49-F238E27FC236}">
                <a16:creationId xmlns:a16="http://schemas.microsoft.com/office/drawing/2014/main" id="{B9EF7F1D-5344-31AD-EC21-1E4411A48D82}"/>
              </a:ext>
            </a:extLst>
          </p:cNvPr>
          <p:cNvSpPr/>
          <p:nvPr/>
        </p:nvSpPr>
        <p:spPr>
          <a:xfrm>
            <a:off x="9235440" y="3695428"/>
            <a:ext cx="2743200" cy="2889504"/>
          </a:xfrm>
          <a:prstGeom prst="rect">
            <a:avLst/>
          </a:prstGeom>
          <a:solidFill>
            <a:schemeClr val="accent1">
              <a:alpha val="14000"/>
            </a:schemeClr>
          </a:solidFill>
          <a:ln w="9525">
            <a:solidFill>
              <a:srgbClr val="CCDFE3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Text 54">
            <a:extLst>
              <a:ext uri="{FF2B5EF4-FFF2-40B4-BE49-F238E27FC236}">
                <a16:creationId xmlns:a16="http://schemas.microsoft.com/office/drawing/2014/main" id="{CE5C88A9-0D1C-C379-58FD-26F730BC8AAC}"/>
              </a:ext>
            </a:extLst>
          </p:cNvPr>
          <p:cNvSpPr/>
          <p:nvPr/>
        </p:nvSpPr>
        <p:spPr>
          <a:xfrm>
            <a:off x="9619488" y="38508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2400" dirty="0"/>
          </a:p>
        </p:txBody>
      </p:sp>
      <p:sp>
        <p:nvSpPr>
          <p:cNvPr id="85" name="Text 56">
            <a:extLst>
              <a:ext uri="{FF2B5EF4-FFF2-40B4-BE49-F238E27FC236}">
                <a16:creationId xmlns:a16="http://schemas.microsoft.com/office/drawing/2014/main" id="{FC9C6B0D-158E-05BC-D56C-A4E64D2CC7F7}"/>
              </a:ext>
            </a:extLst>
          </p:cNvPr>
          <p:cNvSpPr/>
          <p:nvPr/>
        </p:nvSpPr>
        <p:spPr>
          <a:xfrm>
            <a:off x="9482328" y="4222465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disease outbreaks &amp; hospital demand</a:t>
            </a:r>
            <a:endParaRPr lang="en-US" sz="1400" dirty="0"/>
          </a:p>
        </p:txBody>
      </p:sp>
      <p:sp>
        <p:nvSpPr>
          <p:cNvPr id="163" name="Shape 57">
            <a:extLst>
              <a:ext uri="{FF2B5EF4-FFF2-40B4-BE49-F238E27FC236}">
                <a16:creationId xmlns:a16="http://schemas.microsoft.com/office/drawing/2014/main" id="{C3A49182-5FB2-55A8-3F6E-535C7C2D4F43}"/>
              </a:ext>
            </a:extLst>
          </p:cNvPr>
          <p:cNvSpPr/>
          <p:nvPr/>
        </p:nvSpPr>
        <p:spPr>
          <a:xfrm>
            <a:off x="9384755" y="4676847"/>
            <a:ext cx="2560320" cy="0"/>
          </a:xfrm>
          <a:prstGeom prst="line">
            <a:avLst/>
          </a:prstGeom>
          <a:noFill/>
          <a:ln w="635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59">
            <a:extLst>
              <a:ext uri="{FF2B5EF4-FFF2-40B4-BE49-F238E27FC236}">
                <a16:creationId xmlns:a16="http://schemas.microsoft.com/office/drawing/2014/main" id="{CD23DF77-5647-786F-BEE9-AA14F8EAEF95}"/>
              </a:ext>
            </a:extLst>
          </p:cNvPr>
          <p:cNvSpPr/>
          <p:nvPr/>
        </p:nvSpPr>
        <p:spPr>
          <a:xfrm>
            <a:off x="9482328" y="4840170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epidemiological modelling &amp; public health AI tools</a:t>
            </a:r>
            <a:endParaRPr lang="en-US" sz="1400" dirty="0"/>
          </a:p>
        </p:txBody>
      </p:sp>
      <p:sp>
        <p:nvSpPr>
          <p:cNvPr id="167" name="Shape 60">
            <a:extLst>
              <a:ext uri="{FF2B5EF4-FFF2-40B4-BE49-F238E27FC236}">
                <a16:creationId xmlns:a16="http://schemas.microsoft.com/office/drawing/2014/main" id="{676F279B-6A21-5CBC-803B-E575BE46AC59}"/>
              </a:ext>
            </a:extLst>
          </p:cNvPr>
          <p:cNvSpPr/>
          <p:nvPr/>
        </p:nvSpPr>
        <p:spPr>
          <a:xfrm>
            <a:off x="9345168" y="5467595"/>
            <a:ext cx="2560320" cy="0"/>
          </a:xfrm>
          <a:prstGeom prst="line">
            <a:avLst/>
          </a:prstGeom>
          <a:noFill/>
          <a:ln w="635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62">
            <a:extLst>
              <a:ext uri="{FF2B5EF4-FFF2-40B4-BE49-F238E27FC236}">
                <a16:creationId xmlns:a16="http://schemas.microsoft.com/office/drawing/2014/main" id="{A8B2323C-1591-FA28-14AD-59F170002723}"/>
              </a:ext>
            </a:extLst>
          </p:cNvPr>
          <p:cNvSpPr/>
          <p:nvPr/>
        </p:nvSpPr>
        <p:spPr>
          <a:xfrm>
            <a:off x="9482328" y="5565957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decisions that protect communities</a:t>
            </a:r>
            <a:endParaRPr lang="en-US" sz="1400" dirty="0"/>
          </a:p>
        </p:txBody>
      </p:sp>
      <p:sp>
        <p:nvSpPr>
          <p:cNvPr id="172" name="Shape 43">
            <a:extLst>
              <a:ext uri="{FF2B5EF4-FFF2-40B4-BE49-F238E27FC236}">
                <a16:creationId xmlns:a16="http://schemas.microsoft.com/office/drawing/2014/main" id="{FAD1F07A-B38D-A1FC-7ED6-AD545A64CEB0}"/>
              </a:ext>
            </a:extLst>
          </p:cNvPr>
          <p:cNvSpPr/>
          <p:nvPr/>
        </p:nvSpPr>
        <p:spPr>
          <a:xfrm>
            <a:off x="246925" y="1503949"/>
            <a:ext cx="2743200" cy="5074920"/>
          </a:xfrm>
          <a:prstGeom prst="rect">
            <a:avLst/>
          </a:prstGeom>
          <a:solidFill>
            <a:schemeClr val="accent1">
              <a:alpha val="16000"/>
            </a:schemeClr>
          </a:solidFill>
          <a:ln w="9525">
            <a:solidFill>
              <a:srgbClr val="CCDFE3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4C70973-DC98-6094-9330-5C6231DB583B}"/>
              </a:ext>
            </a:extLst>
          </p:cNvPr>
          <p:cNvCxnSpPr>
            <a:cxnSpLocks/>
          </p:cNvCxnSpPr>
          <p:nvPr/>
        </p:nvCxnSpPr>
        <p:spPr>
          <a:xfrm>
            <a:off x="3680749" y="1510012"/>
            <a:ext cx="0" cy="47750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Shape 18">
            <a:extLst>
              <a:ext uri="{FF2B5EF4-FFF2-40B4-BE49-F238E27FC236}">
                <a16:creationId xmlns:a16="http://schemas.microsoft.com/office/drawing/2014/main" id="{DD8EB921-1DB7-6FB4-8961-719D6911A50E}"/>
              </a:ext>
            </a:extLst>
          </p:cNvPr>
          <p:cNvSpPr/>
          <p:nvPr/>
        </p:nvSpPr>
        <p:spPr>
          <a:xfrm>
            <a:off x="3561877" y="1450307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20">
            <a:extLst>
              <a:ext uri="{FF2B5EF4-FFF2-40B4-BE49-F238E27FC236}">
                <a16:creationId xmlns:a16="http://schemas.microsoft.com/office/drawing/2014/main" id="{E6A33B25-1F6D-D435-6B11-C29F468F8D99}"/>
              </a:ext>
            </a:extLst>
          </p:cNvPr>
          <p:cNvSpPr/>
          <p:nvPr/>
        </p:nvSpPr>
        <p:spPr>
          <a:xfrm>
            <a:off x="3808650" y="133817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1400" dirty="0"/>
          </a:p>
        </p:txBody>
      </p:sp>
      <p:sp>
        <p:nvSpPr>
          <p:cNvPr id="178" name="Text 22">
            <a:extLst>
              <a:ext uri="{FF2B5EF4-FFF2-40B4-BE49-F238E27FC236}">
                <a16:creationId xmlns:a16="http://schemas.microsoft.com/office/drawing/2014/main" id="{2752B825-C287-5F0D-C6CA-439F9AFF25BB}"/>
              </a:ext>
            </a:extLst>
          </p:cNvPr>
          <p:cNvSpPr/>
          <p:nvPr/>
        </p:nvSpPr>
        <p:spPr>
          <a:xfrm>
            <a:off x="3943030" y="1599285"/>
            <a:ext cx="391638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love for math, science &amp; technology</a:t>
            </a:r>
            <a:endParaRPr lang="en-US" sz="1400" dirty="0"/>
          </a:p>
        </p:txBody>
      </p:sp>
      <p:sp>
        <p:nvSpPr>
          <p:cNvPr id="179" name="Shape 23">
            <a:extLst>
              <a:ext uri="{FF2B5EF4-FFF2-40B4-BE49-F238E27FC236}">
                <a16:creationId xmlns:a16="http://schemas.microsoft.com/office/drawing/2014/main" id="{ECDB8120-21E4-1C70-3754-C3BEFA89A555}"/>
              </a:ext>
            </a:extLst>
          </p:cNvPr>
          <p:cNvSpPr/>
          <p:nvPr/>
        </p:nvSpPr>
        <p:spPr>
          <a:xfrm>
            <a:off x="3561877" y="2471382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25">
            <a:extLst>
              <a:ext uri="{FF2B5EF4-FFF2-40B4-BE49-F238E27FC236}">
                <a16:creationId xmlns:a16="http://schemas.microsoft.com/office/drawing/2014/main" id="{08242C56-70E9-5FF7-2135-6D3D02DA3D83}"/>
              </a:ext>
            </a:extLst>
          </p:cNvPr>
          <p:cNvSpPr/>
          <p:nvPr/>
        </p:nvSpPr>
        <p:spPr>
          <a:xfrm>
            <a:off x="3918493" y="2421038"/>
            <a:ext cx="198273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 College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1400" dirty="0"/>
          </a:p>
        </p:txBody>
      </p:sp>
      <p:sp>
        <p:nvSpPr>
          <p:cNvPr id="181" name="Text 27">
            <a:extLst>
              <a:ext uri="{FF2B5EF4-FFF2-40B4-BE49-F238E27FC236}">
                <a16:creationId xmlns:a16="http://schemas.microsoft.com/office/drawing/2014/main" id="{87B64C2A-5AEA-DC43-DD27-9304A73A23B3}"/>
              </a:ext>
            </a:extLst>
          </p:cNvPr>
          <p:cNvSpPr/>
          <p:nvPr/>
        </p:nvSpPr>
        <p:spPr>
          <a:xfrm>
            <a:off x="3943030" y="2820510"/>
            <a:ext cx="36816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foundation &amp; discovered ML &amp; AI</a:t>
            </a:r>
            <a:endParaRPr lang="en-US" sz="1400" dirty="0"/>
          </a:p>
        </p:txBody>
      </p:sp>
      <p:sp>
        <p:nvSpPr>
          <p:cNvPr id="182" name="Shape 28">
            <a:extLst>
              <a:ext uri="{FF2B5EF4-FFF2-40B4-BE49-F238E27FC236}">
                <a16:creationId xmlns:a16="http://schemas.microsoft.com/office/drawing/2014/main" id="{38B7186D-0D81-12D4-A9B6-4A3D1DD2DE9F}"/>
              </a:ext>
            </a:extLst>
          </p:cNvPr>
          <p:cNvSpPr/>
          <p:nvPr/>
        </p:nvSpPr>
        <p:spPr>
          <a:xfrm>
            <a:off x="3561877" y="3530837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Text 30">
            <a:extLst>
              <a:ext uri="{FF2B5EF4-FFF2-40B4-BE49-F238E27FC236}">
                <a16:creationId xmlns:a16="http://schemas.microsoft.com/office/drawing/2014/main" id="{30BE6ACA-5E29-115A-F849-E4582C90FB8E}"/>
              </a:ext>
            </a:extLst>
          </p:cNvPr>
          <p:cNvSpPr/>
          <p:nvPr/>
        </p:nvSpPr>
        <p:spPr>
          <a:xfrm>
            <a:off x="3818694" y="3563434"/>
            <a:ext cx="349650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UBC Sauder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Business</a:t>
            </a:r>
            <a:endParaRPr lang="en-US" sz="1400" dirty="0"/>
          </a:p>
        </p:txBody>
      </p:sp>
      <p:sp>
        <p:nvSpPr>
          <p:cNvPr id="184" name="Text 32">
            <a:extLst>
              <a:ext uri="{FF2B5EF4-FFF2-40B4-BE49-F238E27FC236}">
                <a16:creationId xmlns:a16="http://schemas.microsoft.com/office/drawing/2014/main" id="{1517028E-0377-1ACB-40FD-15C888AAC662}"/>
              </a:ext>
            </a:extLst>
          </p:cNvPr>
          <p:cNvSpPr/>
          <p:nvPr/>
        </p:nvSpPr>
        <p:spPr>
          <a:xfrm>
            <a:off x="3777996" y="3974269"/>
            <a:ext cx="391638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Pivoted to finance </a:t>
            </a:r>
            <a:r>
              <a:rPr lang="en-US" sz="1400" dirty="0">
                <a:solidFill>
                  <a:srgbClr val="5A6A72"/>
                </a:solidFill>
                <a:ea typeface="Calibri" pitchFamily="34" charset="-122"/>
                <a:cs typeface="Calibri" pitchFamily="34" charset="-120"/>
              </a:rPr>
              <a:t>- n</a:t>
            </a:r>
            <a:r>
              <a:rPr lang="en-US" sz="14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oticed data governance gaps</a:t>
            </a:r>
            <a:endParaRPr lang="en-US" sz="1400" dirty="0"/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96B83F8F-941D-4538-48A7-C6652D06B3E5}"/>
              </a:ext>
            </a:extLst>
          </p:cNvPr>
          <p:cNvCxnSpPr>
            <a:cxnSpLocks/>
          </p:cNvCxnSpPr>
          <p:nvPr/>
        </p:nvCxnSpPr>
        <p:spPr>
          <a:xfrm>
            <a:off x="4039564" y="2127663"/>
            <a:ext cx="39426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8F1B2A0D-86F4-BE1A-C797-C666EBA0B331}"/>
              </a:ext>
            </a:extLst>
          </p:cNvPr>
          <p:cNvCxnSpPr>
            <a:cxnSpLocks/>
          </p:cNvCxnSpPr>
          <p:nvPr/>
        </p:nvCxnSpPr>
        <p:spPr>
          <a:xfrm>
            <a:off x="4051139" y="3295899"/>
            <a:ext cx="39426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838CCBA3-0DF6-BBB5-B4E2-E90DCC0F8234}"/>
              </a:ext>
            </a:extLst>
          </p:cNvPr>
          <p:cNvCxnSpPr>
            <a:cxnSpLocks/>
          </p:cNvCxnSpPr>
          <p:nvPr/>
        </p:nvCxnSpPr>
        <p:spPr>
          <a:xfrm>
            <a:off x="4051139" y="4535162"/>
            <a:ext cx="39426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Shape 33">
            <a:extLst>
              <a:ext uri="{FF2B5EF4-FFF2-40B4-BE49-F238E27FC236}">
                <a16:creationId xmlns:a16="http://schemas.microsoft.com/office/drawing/2014/main" id="{F6BB48FC-C3A9-C6EC-DD74-F9FDFB6ACC6F}"/>
              </a:ext>
            </a:extLst>
          </p:cNvPr>
          <p:cNvSpPr/>
          <p:nvPr/>
        </p:nvSpPr>
        <p:spPr>
          <a:xfrm>
            <a:off x="3544898" y="469750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35">
            <a:extLst>
              <a:ext uri="{FF2B5EF4-FFF2-40B4-BE49-F238E27FC236}">
                <a16:creationId xmlns:a16="http://schemas.microsoft.com/office/drawing/2014/main" id="{F467FFEB-631B-2335-193E-D1F4FFDF3283}"/>
              </a:ext>
            </a:extLst>
          </p:cNvPr>
          <p:cNvSpPr/>
          <p:nvPr/>
        </p:nvSpPr>
        <p:spPr>
          <a:xfrm>
            <a:off x="3796283" y="4685412"/>
            <a:ext cx="240386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Centre for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Control</a:t>
            </a:r>
            <a:endParaRPr lang="en-US" sz="1400" dirty="0"/>
          </a:p>
        </p:txBody>
      </p:sp>
      <p:sp>
        <p:nvSpPr>
          <p:cNvPr id="192" name="Text 37">
            <a:extLst>
              <a:ext uri="{FF2B5EF4-FFF2-40B4-BE49-F238E27FC236}">
                <a16:creationId xmlns:a16="http://schemas.microsoft.com/office/drawing/2014/main" id="{8EAB479B-6C0F-7D74-BC97-4C2E28EE2417}"/>
              </a:ext>
            </a:extLst>
          </p:cNvPr>
          <p:cNvSpPr/>
          <p:nvPr/>
        </p:nvSpPr>
        <p:spPr>
          <a:xfrm>
            <a:off x="3703328" y="5089275"/>
            <a:ext cx="4723041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during pandemic -applied data science to healthcare</a:t>
            </a:r>
            <a:endParaRPr lang="en-US" sz="1400" dirty="0"/>
          </a:p>
        </p:txBody>
      </p:sp>
      <p:sp>
        <p:nvSpPr>
          <p:cNvPr id="193" name="Shape 38">
            <a:extLst>
              <a:ext uri="{FF2B5EF4-FFF2-40B4-BE49-F238E27FC236}">
                <a16:creationId xmlns:a16="http://schemas.microsoft.com/office/drawing/2014/main" id="{EEBCE9FA-DCDF-227A-5BF5-16C375DFBFA4}"/>
              </a:ext>
            </a:extLst>
          </p:cNvPr>
          <p:cNvSpPr/>
          <p:nvPr/>
        </p:nvSpPr>
        <p:spPr>
          <a:xfrm>
            <a:off x="3561877" y="5686977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486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40">
            <a:extLst>
              <a:ext uri="{FF2B5EF4-FFF2-40B4-BE49-F238E27FC236}">
                <a16:creationId xmlns:a16="http://schemas.microsoft.com/office/drawing/2014/main" id="{ACE378F6-B98D-42E7-49E2-59EB22E5DE42}"/>
              </a:ext>
            </a:extLst>
          </p:cNvPr>
          <p:cNvSpPr/>
          <p:nvPr/>
        </p:nvSpPr>
        <p:spPr>
          <a:xfrm>
            <a:off x="3474728" y="5636755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195" name="Text 42">
            <a:extLst>
              <a:ext uri="{FF2B5EF4-FFF2-40B4-BE49-F238E27FC236}">
                <a16:creationId xmlns:a16="http://schemas.microsoft.com/office/drawing/2014/main" id="{4D1712D2-427D-9017-2685-F43559058A7E}"/>
              </a:ext>
            </a:extLst>
          </p:cNvPr>
          <p:cNvSpPr/>
          <p:nvPr/>
        </p:nvSpPr>
        <p:spPr>
          <a:xfrm>
            <a:off x="3629697" y="5951845"/>
            <a:ext cx="42904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Scientist predicting outbreaks &amp; saving lives</a:t>
            </a:r>
            <a:endParaRPr lang="en-US" sz="1400" dirty="0"/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D2CA39A0-74E0-6406-18E2-40DACE6A15FE}"/>
              </a:ext>
            </a:extLst>
          </p:cNvPr>
          <p:cNvCxnSpPr>
            <a:cxnSpLocks/>
          </p:cNvCxnSpPr>
          <p:nvPr/>
        </p:nvCxnSpPr>
        <p:spPr>
          <a:xfrm>
            <a:off x="4039564" y="5565957"/>
            <a:ext cx="39426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CF855D6B-E9C9-7C27-C10F-FEEC4FA45FFE}"/>
              </a:ext>
            </a:extLst>
          </p:cNvPr>
          <p:cNvSpPr/>
          <p:nvPr/>
        </p:nvSpPr>
        <p:spPr>
          <a:xfrm>
            <a:off x="0" y="1226477"/>
            <a:ext cx="12192000" cy="5631523"/>
          </a:xfrm>
          <a:prstGeom prst="rect">
            <a:avLst/>
          </a:prstGeom>
          <a:blipFill dpi="0" rotWithShape="1">
            <a:blip r:embed="rId7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861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9737D-4982-546C-E343-915C7F43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372A7B7D-9424-356F-8843-F3C9E41DBF7C}"/>
              </a:ext>
            </a:extLst>
          </p:cNvPr>
          <p:cNvSpPr/>
          <p:nvPr/>
        </p:nvSpPr>
        <p:spPr>
          <a:xfrm>
            <a:off x="1" y="4865064"/>
            <a:ext cx="12192000" cy="1168272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BEE3BD-084B-FD93-7717-109EEC9A25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8872" y="334315"/>
            <a:ext cx="10515599" cy="904444"/>
          </a:xfrm>
        </p:spPr>
        <p:txBody>
          <a:bodyPr/>
          <a:lstStyle/>
          <a:p>
            <a:r>
              <a:rPr lang="en-CA" dirty="0"/>
              <a:t>What is Data Science?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BC5395-9887-5F3D-608C-C9BF08892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040438"/>
            <a:ext cx="15684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546B593-73D6-60F7-23F0-6BA58D91D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759364"/>
            <a:ext cx="2743200" cy="2743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CC9DD876-1AA7-D630-97E3-903E2115F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759364"/>
            <a:ext cx="2743200" cy="274320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55E4552C-0016-EA1D-E08B-C04D02018404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4709160" y="1759364"/>
            <a:ext cx="2743200" cy="2743200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C9D42A31-62A4-ECEE-4238-C0A1BFE3790E}"/>
              </a:ext>
            </a:extLst>
          </p:cNvPr>
          <p:cNvSpPr/>
          <p:nvPr/>
        </p:nvSpPr>
        <p:spPr>
          <a:xfrm>
            <a:off x="5559552" y="2609756"/>
            <a:ext cx="1042416" cy="10424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79FF8FD-514A-65EA-F2DB-F576111ABBDD}"/>
              </a:ext>
            </a:extLst>
          </p:cNvPr>
          <p:cNvSpPr/>
          <p:nvPr/>
        </p:nvSpPr>
        <p:spPr>
          <a:xfrm>
            <a:off x="5526873" y="299007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20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837E630-D346-EDB2-E22C-EBDB04EB9AEE}"/>
              </a:ext>
            </a:extLst>
          </p:cNvPr>
          <p:cNvSpPr/>
          <p:nvPr/>
        </p:nvSpPr>
        <p:spPr>
          <a:xfrm>
            <a:off x="4946904" y="231170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5E81F07-E399-79A7-3145-9BF925D17539}"/>
              </a:ext>
            </a:extLst>
          </p:cNvPr>
          <p:cNvSpPr/>
          <p:nvPr/>
        </p:nvSpPr>
        <p:spPr>
          <a:xfrm>
            <a:off x="4782312" y="2759145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right questions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define the problem</a:t>
            </a:r>
            <a:endParaRPr lang="en-US" sz="1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25A95F5-C90A-5A71-8513-35A8F4D56843}"/>
              </a:ext>
            </a:extLst>
          </p:cNvPr>
          <p:cNvSpPr/>
          <p:nvPr/>
        </p:nvSpPr>
        <p:spPr>
          <a:xfrm>
            <a:off x="6029793" y="231713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0695E9BB-3097-FC84-3F35-898A1006F2AA}"/>
              </a:ext>
            </a:extLst>
          </p:cNvPr>
          <p:cNvSpPr/>
          <p:nvPr/>
        </p:nvSpPr>
        <p:spPr>
          <a:xfrm>
            <a:off x="6212673" y="2753757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 using</a:t>
            </a:r>
            <a:endParaRPr lang="en-US" sz="12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algorithms</a:t>
            </a:r>
            <a:endParaRPr lang="en-US" sz="12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F7A708A-3D46-9EC2-F8F5-B2F7C5CDDAB1}"/>
              </a:ext>
            </a:extLst>
          </p:cNvPr>
          <p:cNvSpPr/>
          <p:nvPr/>
        </p:nvSpPr>
        <p:spPr>
          <a:xfrm>
            <a:off x="5437632" y="3695913"/>
            <a:ext cx="13167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IMPACT</a:t>
            </a:r>
            <a:endParaRPr lang="en-US" sz="12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5478B084-392B-0431-2ECF-E1B1717658D4}"/>
              </a:ext>
            </a:extLst>
          </p:cNvPr>
          <p:cNvSpPr/>
          <p:nvPr/>
        </p:nvSpPr>
        <p:spPr>
          <a:xfrm>
            <a:off x="5103818" y="3903794"/>
            <a:ext cx="1943390" cy="499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insights into decisions</a:t>
            </a:r>
            <a:endParaRPr lang="en-US" sz="1200" dirty="0"/>
          </a:p>
          <a:p>
            <a:pPr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create real-world</a:t>
            </a:r>
          </a:p>
          <a:p>
            <a:pPr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</a:t>
            </a:r>
            <a:endParaRPr lang="en-US" sz="12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B09710E5-0C13-243A-C2AF-AEB8A77BFED7}"/>
              </a:ext>
            </a:extLst>
          </p:cNvPr>
          <p:cNvSpPr/>
          <p:nvPr/>
        </p:nvSpPr>
        <p:spPr>
          <a:xfrm>
            <a:off x="4216561" y="1444742"/>
            <a:ext cx="3758878" cy="204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DA2C131-DBBD-81F6-CC57-707FD0F7F70E}"/>
              </a:ext>
            </a:extLst>
          </p:cNvPr>
          <p:cNvSpPr/>
          <p:nvPr/>
        </p:nvSpPr>
        <p:spPr>
          <a:xfrm>
            <a:off x="7452360" y="2106836"/>
            <a:ext cx="164592" cy="0"/>
          </a:xfrm>
          <a:prstGeom prst="line">
            <a:avLst/>
          </a:prstGeom>
          <a:noFill/>
          <a:ln w="9525">
            <a:solidFill>
              <a:srgbClr val="AACD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6E3BD940-11A2-5BFE-D2E1-A04492009371}"/>
              </a:ext>
            </a:extLst>
          </p:cNvPr>
          <p:cNvSpPr/>
          <p:nvPr/>
        </p:nvSpPr>
        <p:spPr>
          <a:xfrm>
            <a:off x="7452360" y="3021236"/>
            <a:ext cx="164592" cy="0"/>
          </a:xfrm>
          <a:prstGeom prst="line">
            <a:avLst/>
          </a:prstGeom>
          <a:noFill/>
          <a:ln w="9525">
            <a:solidFill>
              <a:srgbClr val="AACD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36">
            <a:extLst>
              <a:ext uri="{FF2B5EF4-FFF2-40B4-BE49-F238E27FC236}">
                <a16:creationId xmlns:a16="http://schemas.microsoft.com/office/drawing/2014/main" id="{B5516423-7B4D-883C-5CEE-C0EBCE909C7E}"/>
              </a:ext>
            </a:extLst>
          </p:cNvPr>
          <p:cNvSpPr/>
          <p:nvPr/>
        </p:nvSpPr>
        <p:spPr>
          <a:xfrm>
            <a:off x="7452360" y="3935636"/>
            <a:ext cx="164592" cy="0"/>
          </a:xfrm>
          <a:prstGeom prst="line">
            <a:avLst/>
          </a:prstGeom>
          <a:noFill/>
          <a:ln w="9525">
            <a:solidFill>
              <a:srgbClr val="AACD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>
            <a:extLst>
              <a:ext uri="{FF2B5EF4-FFF2-40B4-BE49-F238E27FC236}">
                <a16:creationId xmlns:a16="http://schemas.microsoft.com/office/drawing/2014/main" id="{25DDAE1E-ABE9-CA3F-7D37-E9E6C266EE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1923956"/>
            <a:ext cx="365760" cy="365760"/>
          </a:xfrm>
          <a:prstGeom prst="rect">
            <a:avLst/>
          </a:prstGeom>
        </p:spPr>
      </p:pic>
      <p:sp>
        <p:nvSpPr>
          <p:cNvPr id="33" name="Text 14">
            <a:extLst>
              <a:ext uri="{FF2B5EF4-FFF2-40B4-BE49-F238E27FC236}">
                <a16:creationId xmlns:a16="http://schemas.microsoft.com/office/drawing/2014/main" id="{A39F7D9E-CB94-CD2B-C2E8-BC9A479CFA61}"/>
              </a:ext>
            </a:extLst>
          </p:cNvPr>
          <p:cNvSpPr/>
          <p:nvPr/>
        </p:nvSpPr>
        <p:spPr>
          <a:xfrm>
            <a:off x="109728" y="185994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D3090A6-BE82-FD1F-6B24-053EB61D40CF}"/>
              </a:ext>
            </a:extLst>
          </p:cNvPr>
          <p:cNvSpPr/>
          <p:nvPr/>
        </p:nvSpPr>
        <p:spPr>
          <a:xfrm>
            <a:off x="109728" y="206111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shows you'll love</a:t>
            </a:r>
            <a:endParaRPr lang="en-US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33E70B58-5061-365C-A938-7BD0BE6BF9E1}"/>
              </a:ext>
            </a:extLst>
          </p:cNvPr>
          <p:cNvSpPr/>
          <p:nvPr/>
        </p:nvSpPr>
        <p:spPr>
          <a:xfrm>
            <a:off x="4544568" y="2106836"/>
            <a:ext cx="164592" cy="0"/>
          </a:xfrm>
          <a:prstGeom prst="line">
            <a:avLst/>
          </a:prstGeom>
          <a:noFill/>
          <a:ln w="9525">
            <a:solidFill>
              <a:srgbClr val="AACD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>
            <a:extLst>
              <a:ext uri="{FF2B5EF4-FFF2-40B4-BE49-F238E27FC236}">
                <a16:creationId xmlns:a16="http://schemas.microsoft.com/office/drawing/2014/main" id="{36306854-DA18-4129-D9DF-5E7AB5CA7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1923956"/>
            <a:ext cx="365760" cy="365760"/>
          </a:xfrm>
          <a:prstGeom prst="rect">
            <a:avLst/>
          </a:prstGeom>
        </p:spPr>
      </p:pic>
      <p:sp>
        <p:nvSpPr>
          <p:cNvPr id="37" name="Text 18">
            <a:extLst>
              <a:ext uri="{FF2B5EF4-FFF2-40B4-BE49-F238E27FC236}">
                <a16:creationId xmlns:a16="http://schemas.microsoft.com/office/drawing/2014/main" id="{5A4686A9-73AD-31E0-541B-C5924E6E3E0A}"/>
              </a:ext>
            </a:extLst>
          </p:cNvPr>
          <p:cNvSpPr/>
          <p:nvPr/>
        </p:nvSpPr>
        <p:spPr>
          <a:xfrm>
            <a:off x="8183880" y="18599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A1FD4357-78FC-4C3E-F9BB-86D5C205D07A}"/>
              </a:ext>
            </a:extLst>
          </p:cNvPr>
          <p:cNvSpPr/>
          <p:nvPr/>
        </p:nvSpPr>
        <p:spPr>
          <a:xfrm>
            <a:off x="8183879" y="2061116"/>
            <a:ext cx="307828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traffic</a:t>
            </a:r>
            <a:r>
              <a:rPr lang="en-US" dirty="0"/>
              <a:t> </a:t>
            </a:r>
            <a:r>
              <a:rPr lang="en-US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best routes</a:t>
            </a:r>
            <a:endParaRPr lang="en-US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1A24DD8F-70A6-0869-5610-462115B7F85B}"/>
              </a:ext>
            </a:extLst>
          </p:cNvPr>
          <p:cNvSpPr/>
          <p:nvPr/>
        </p:nvSpPr>
        <p:spPr>
          <a:xfrm>
            <a:off x="7452360" y="2106836"/>
            <a:ext cx="164592" cy="0"/>
          </a:xfrm>
          <a:prstGeom prst="line">
            <a:avLst/>
          </a:prstGeom>
          <a:noFill/>
          <a:ln w="9525">
            <a:solidFill>
              <a:srgbClr val="AACD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8" descr="preencoded.png">
            <a:extLst>
              <a:ext uri="{FF2B5EF4-FFF2-40B4-BE49-F238E27FC236}">
                <a16:creationId xmlns:a16="http://schemas.microsoft.com/office/drawing/2014/main" id="{EF4A6E94-A06F-E561-73D5-3641F91FE2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0" y="2838356"/>
            <a:ext cx="365760" cy="365760"/>
          </a:xfrm>
          <a:prstGeom prst="rect">
            <a:avLst/>
          </a:prstGeom>
        </p:spPr>
      </p:pic>
      <p:sp>
        <p:nvSpPr>
          <p:cNvPr id="41" name="Text 22">
            <a:extLst>
              <a:ext uri="{FF2B5EF4-FFF2-40B4-BE49-F238E27FC236}">
                <a16:creationId xmlns:a16="http://schemas.microsoft.com/office/drawing/2014/main" id="{72562184-540E-9291-DCE5-ADBB1575EF31}"/>
              </a:ext>
            </a:extLst>
          </p:cNvPr>
          <p:cNvSpPr/>
          <p:nvPr/>
        </p:nvSpPr>
        <p:spPr>
          <a:xfrm>
            <a:off x="109728" y="277434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Control</a:t>
            </a:r>
            <a:endParaRPr lang="en-US" dirty="0"/>
          </a:p>
        </p:txBody>
      </p:sp>
      <p:sp>
        <p:nvSpPr>
          <p:cNvPr id="42" name="Text 23">
            <a:extLst>
              <a:ext uri="{FF2B5EF4-FFF2-40B4-BE49-F238E27FC236}">
                <a16:creationId xmlns:a16="http://schemas.microsoft.com/office/drawing/2014/main" id="{8C7C63DC-2C65-6339-6F9A-9EB9084BD32D}"/>
              </a:ext>
            </a:extLst>
          </p:cNvPr>
          <p:cNvSpPr/>
          <p:nvPr/>
        </p:nvSpPr>
        <p:spPr>
          <a:xfrm>
            <a:off x="109728" y="297551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disease outbreaks</a:t>
            </a:r>
            <a:endParaRPr lang="en-US" dirty="0"/>
          </a:p>
        </p:txBody>
      </p:sp>
      <p:sp>
        <p:nvSpPr>
          <p:cNvPr id="43" name="Shape 24">
            <a:extLst>
              <a:ext uri="{FF2B5EF4-FFF2-40B4-BE49-F238E27FC236}">
                <a16:creationId xmlns:a16="http://schemas.microsoft.com/office/drawing/2014/main" id="{5C1769E7-21E8-4EE4-8B68-F16D311ADE7A}"/>
              </a:ext>
            </a:extLst>
          </p:cNvPr>
          <p:cNvSpPr/>
          <p:nvPr/>
        </p:nvSpPr>
        <p:spPr>
          <a:xfrm>
            <a:off x="4544568" y="3021236"/>
            <a:ext cx="164592" cy="0"/>
          </a:xfrm>
          <a:prstGeom prst="line">
            <a:avLst/>
          </a:prstGeom>
          <a:noFill/>
          <a:ln w="9525">
            <a:solidFill>
              <a:srgbClr val="AACD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9" descr="preencoded.png">
            <a:extLst>
              <a:ext uri="{FF2B5EF4-FFF2-40B4-BE49-F238E27FC236}">
                <a16:creationId xmlns:a16="http://schemas.microsoft.com/office/drawing/2014/main" id="{123187CF-8C17-0651-80A3-1EEB87C118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960" y="2838356"/>
            <a:ext cx="365760" cy="365760"/>
          </a:xfrm>
          <a:prstGeom prst="rect">
            <a:avLst/>
          </a:prstGeom>
        </p:spPr>
      </p:pic>
      <p:sp>
        <p:nvSpPr>
          <p:cNvPr id="45" name="Text 26">
            <a:extLst>
              <a:ext uri="{FF2B5EF4-FFF2-40B4-BE49-F238E27FC236}">
                <a16:creationId xmlns:a16="http://schemas.microsoft.com/office/drawing/2014/main" id="{AF2EEEBF-94D8-2854-4A38-AF57F356C7FD}"/>
              </a:ext>
            </a:extLst>
          </p:cNvPr>
          <p:cNvSpPr/>
          <p:nvPr/>
        </p:nvSpPr>
        <p:spPr>
          <a:xfrm>
            <a:off x="8183880" y="27743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Apps</a:t>
            </a:r>
            <a:endParaRPr lang="en-US" dirty="0"/>
          </a:p>
        </p:txBody>
      </p:sp>
      <p:sp>
        <p:nvSpPr>
          <p:cNvPr id="46" name="Text 27">
            <a:extLst>
              <a:ext uri="{FF2B5EF4-FFF2-40B4-BE49-F238E27FC236}">
                <a16:creationId xmlns:a16="http://schemas.microsoft.com/office/drawing/2014/main" id="{346F4F9C-8022-86AF-580A-5354232D0F57}"/>
              </a:ext>
            </a:extLst>
          </p:cNvPr>
          <p:cNvSpPr/>
          <p:nvPr/>
        </p:nvSpPr>
        <p:spPr>
          <a:xfrm>
            <a:off x="8183879" y="2975516"/>
            <a:ext cx="328663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forecasts from sensor data</a:t>
            </a:r>
            <a:endParaRPr lang="en-US" dirty="0"/>
          </a:p>
        </p:txBody>
      </p:sp>
      <p:pic>
        <p:nvPicPr>
          <p:cNvPr id="47" name="Image 10" descr="preencoded.png">
            <a:extLst>
              <a:ext uri="{FF2B5EF4-FFF2-40B4-BE49-F238E27FC236}">
                <a16:creationId xmlns:a16="http://schemas.microsoft.com/office/drawing/2014/main" id="{521502FC-2B89-44B4-BF0E-2F9476A125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0" y="3752756"/>
            <a:ext cx="365760" cy="365760"/>
          </a:xfrm>
          <a:prstGeom prst="rect">
            <a:avLst/>
          </a:prstGeom>
        </p:spPr>
      </p:pic>
      <p:sp>
        <p:nvSpPr>
          <p:cNvPr id="48" name="Text 30">
            <a:extLst>
              <a:ext uri="{FF2B5EF4-FFF2-40B4-BE49-F238E27FC236}">
                <a16:creationId xmlns:a16="http://schemas.microsoft.com/office/drawing/2014/main" id="{66FECA0B-5FD3-BA95-FC5F-FF32ECC8A4B2}"/>
              </a:ext>
            </a:extLst>
          </p:cNvPr>
          <p:cNvSpPr/>
          <p:nvPr/>
        </p:nvSpPr>
        <p:spPr>
          <a:xfrm>
            <a:off x="109728" y="368874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dirty="0"/>
          </a:p>
        </p:txBody>
      </p:sp>
      <p:sp>
        <p:nvSpPr>
          <p:cNvPr id="49" name="Text 31">
            <a:extLst>
              <a:ext uri="{FF2B5EF4-FFF2-40B4-BE49-F238E27FC236}">
                <a16:creationId xmlns:a16="http://schemas.microsoft.com/office/drawing/2014/main" id="{92968487-DDE8-8169-7FE3-5CE14C069B78}"/>
              </a:ext>
            </a:extLst>
          </p:cNvPr>
          <p:cNvSpPr/>
          <p:nvPr/>
        </p:nvSpPr>
        <p:spPr>
          <a:xfrm>
            <a:off x="109728" y="388991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fraud in real-time</a:t>
            </a:r>
            <a:endParaRPr lang="en-US" dirty="0"/>
          </a:p>
        </p:txBody>
      </p:sp>
      <p:sp>
        <p:nvSpPr>
          <p:cNvPr id="50" name="Shape 32">
            <a:extLst>
              <a:ext uri="{FF2B5EF4-FFF2-40B4-BE49-F238E27FC236}">
                <a16:creationId xmlns:a16="http://schemas.microsoft.com/office/drawing/2014/main" id="{41E1395E-8622-5048-0A8C-5F557A929EEB}"/>
              </a:ext>
            </a:extLst>
          </p:cNvPr>
          <p:cNvSpPr/>
          <p:nvPr/>
        </p:nvSpPr>
        <p:spPr>
          <a:xfrm>
            <a:off x="4544568" y="3935636"/>
            <a:ext cx="164592" cy="0"/>
          </a:xfrm>
          <a:prstGeom prst="line">
            <a:avLst/>
          </a:prstGeom>
          <a:noFill/>
          <a:ln w="9525">
            <a:solidFill>
              <a:srgbClr val="AACD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11" descr="preencoded.png">
            <a:extLst>
              <a:ext uri="{FF2B5EF4-FFF2-40B4-BE49-F238E27FC236}">
                <a16:creationId xmlns:a16="http://schemas.microsoft.com/office/drawing/2014/main" id="{CCB95484-FAE1-AC1B-5EC4-2A5B7F00D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0960" y="3752756"/>
            <a:ext cx="365760" cy="365760"/>
          </a:xfrm>
          <a:prstGeom prst="rect">
            <a:avLst/>
          </a:prstGeom>
        </p:spPr>
      </p:pic>
      <p:sp>
        <p:nvSpPr>
          <p:cNvPr id="52" name="Text 34">
            <a:extLst>
              <a:ext uri="{FF2B5EF4-FFF2-40B4-BE49-F238E27FC236}">
                <a16:creationId xmlns:a16="http://schemas.microsoft.com/office/drawing/2014/main" id="{11DCF8F3-2243-41C3-49E2-63DDE7EBA26B}"/>
              </a:ext>
            </a:extLst>
          </p:cNvPr>
          <p:cNvSpPr/>
          <p:nvPr/>
        </p:nvSpPr>
        <p:spPr>
          <a:xfrm>
            <a:off x="8183880" y="36887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dirty="0"/>
          </a:p>
        </p:txBody>
      </p:sp>
      <p:sp>
        <p:nvSpPr>
          <p:cNvPr id="53" name="Text 35">
            <a:extLst>
              <a:ext uri="{FF2B5EF4-FFF2-40B4-BE49-F238E27FC236}">
                <a16:creationId xmlns:a16="http://schemas.microsoft.com/office/drawing/2014/main" id="{4188EDF4-2409-D8AD-9A9C-6F44AD12CB53}"/>
              </a:ext>
            </a:extLst>
          </p:cNvPr>
          <p:cNvSpPr/>
          <p:nvPr/>
        </p:nvSpPr>
        <p:spPr>
          <a:xfrm>
            <a:off x="8183880" y="3889915"/>
            <a:ext cx="3286630" cy="637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Personalises</a:t>
            </a:r>
            <a:r>
              <a:rPr lang="en-US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difficulty</a:t>
            </a:r>
            <a:r>
              <a:rPr lang="en-US" dirty="0"/>
              <a:t> </a:t>
            </a:r>
            <a:r>
              <a:rPr lang="en-US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matches</a:t>
            </a:r>
            <a:endParaRPr lang="en-US" dirty="0"/>
          </a:p>
        </p:txBody>
      </p:sp>
      <p:sp>
        <p:nvSpPr>
          <p:cNvPr id="54" name="Text 40">
            <a:extLst>
              <a:ext uri="{FF2B5EF4-FFF2-40B4-BE49-F238E27FC236}">
                <a16:creationId xmlns:a16="http://schemas.microsoft.com/office/drawing/2014/main" id="{18A8C316-EC12-CF6A-D71F-90733EAF2980}"/>
              </a:ext>
            </a:extLst>
          </p:cNvPr>
          <p:cNvSpPr/>
          <p:nvPr/>
        </p:nvSpPr>
        <p:spPr>
          <a:xfrm>
            <a:off x="585216" y="4969938"/>
            <a:ext cx="186684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Statistics</a:t>
            </a:r>
            <a:endParaRPr lang="en-US" sz="1600" dirty="0"/>
          </a:p>
        </p:txBody>
      </p:sp>
      <p:sp>
        <p:nvSpPr>
          <p:cNvPr id="55" name="Text 41">
            <a:extLst>
              <a:ext uri="{FF2B5EF4-FFF2-40B4-BE49-F238E27FC236}">
                <a16:creationId xmlns:a16="http://schemas.microsoft.com/office/drawing/2014/main" id="{9235D215-35A3-5387-C8FD-D3A21004357E}"/>
              </a:ext>
            </a:extLst>
          </p:cNvPr>
          <p:cNvSpPr/>
          <p:nvPr/>
        </p:nvSpPr>
        <p:spPr>
          <a:xfrm>
            <a:off x="790127" y="5165956"/>
            <a:ext cx="1463040" cy="870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 and test ideas</a:t>
            </a:r>
            <a:endParaRPr lang="en-US" sz="1400" dirty="0"/>
          </a:p>
        </p:txBody>
      </p:sp>
      <p:sp>
        <p:nvSpPr>
          <p:cNvPr id="56" name="Text 43">
            <a:extLst>
              <a:ext uri="{FF2B5EF4-FFF2-40B4-BE49-F238E27FC236}">
                <a16:creationId xmlns:a16="http://schemas.microsoft.com/office/drawing/2014/main" id="{EC91BA8C-9A80-5E99-1175-5D02B719D17A}"/>
              </a:ext>
            </a:extLst>
          </p:cNvPr>
          <p:cNvSpPr/>
          <p:nvPr/>
        </p:nvSpPr>
        <p:spPr>
          <a:xfrm>
            <a:off x="3236976" y="4969938"/>
            <a:ext cx="186684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600" dirty="0"/>
          </a:p>
        </p:txBody>
      </p:sp>
      <p:sp>
        <p:nvSpPr>
          <p:cNvPr id="57" name="Text 44">
            <a:extLst>
              <a:ext uri="{FF2B5EF4-FFF2-40B4-BE49-F238E27FC236}">
                <a16:creationId xmlns:a16="http://schemas.microsoft.com/office/drawing/2014/main" id="{D6ACD9EB-717D-F79B-77D6-06BC08CB80A8}"/>
              </a:ext>
            </a:extLst>
          </p:cNvPr>
          <p:cNvSpPr/>
          <p:nvPr/>
        </p:nvSpPr>
        <p:spPr>
          <a:xfrm>
            <a:off x="3438877" y="5417999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tools and analyze data</a:t>
            </a:r>
            <a:endParaRPr lang="en-US" sz="1400" dirty="0"/>
          </a:p>
        </p:txBody>
      </p:sp>
      <p:sp>
        <p:nvSpPr>
          <p:cNvPr id="58" name="Text 46">
            <a:extLst>
              <a:ext uri="{FF2B5EF4-FFF2-40B4-BE49-F238E27FC236}">
                <a16:creationId xmlns:a16="http://schemas.microsoft.com/office/drawing/2014/main" id="{88D315CC-A9B2-E370-6B80-2FCC1B53540D}"/>
              </a:ext>
            </a:extLst>
          </p:cNvPr>
          <p:cNvSpPr/>
          <p:nvPr/>
        </p:nvSpPr>
        <p:spPr>
          <a:xfrm>
            <a:off x="5888736" y="4969938"/>
            <a:ext cx="186684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59" name="Text 47">
            <a:extLst>
              <a:ext uri="{FF2B5EF4-FFF2-40B4-BE49-F238E27FC236}">
                <a16:creationId xmlns:a16="http://schemas.microsoft.com/office/drawing/2014/main" id="{F804E8AB-716E-51D0-52A2-BAF4E37CC8C1}"/>
              </a:ext>
            </a:extLst>
          </p:cNvPr>
          <p:cNvSpPr/>
          <p:nvPr/>
        </p:nvSpPr>
        <p:spPr>
          <a:xfrm>
            <a:off x="5873612" y="5521971"/>
            <a:ext cx="18668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context and ask the right questions</a:t>
            </a:r>
            <a:endParaRPr lang="en-US" sz="1400" dirty="0"/>
          </a:p>
        </p:txBody>
      </p:sp>
      <p:sp>
        <p:nvSpPr>
          <p:cNvPr id="60" name="Text 49">
            <a:extLst>
              <a:ext uri="{FF2B5EF4-FFF2-40B4-BE49-F238E27FC236}">
                <a16:creationId xmlns:a16="http://schemas.microsoft.com/office/drawing/2014/main" id="{5772E3A7-CE62-0A32-1F6D-EF065550BC27}"/>
              </a:ext>
            </a:extLst>
          </p:cNvPr>
          <p:cNvSpPr/>
          <p:nvPr/>
        </p:nvSpPr>
        <p:spPr>
          <a:xfrm>
            <a:off x="8540496" y="4969938"/>
            <a:ext cx="186684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&amp;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61" name="Text 50">
            <a:extLst>
              <a:ext uri="{FF2B5EF4-FFF2-40B4-BE49-F238E27FC236}">
                <a16:creationId xmlns:a16="http://schemas.microsoft.com/office/drawing/2014/main" id="{B93D3621-2B98-9713-F816-52232F9F69E6}"/>
              </a:ext>
            </a:extLst>
          </p:cNvPr>
          <p:cNvSpPr/>
          <p:nvPr/>
        </p:nvSpPr>
        <p:spPr>
          <a:xfrm>
            <a:off x="8742397" y="5444409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questions into impact</a:t>
            </a:r>
            <a:endParaRPr lang="en-US" sz="1400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78C5250-367E-30AF-3186-FBBB1EF08805}"/>
              </a:ext>
            </a:extLst>
          </p:cNvPr>
          <p:cNvSpPr/>
          <p:nvPr/>
        </p:nvSpPr>
        <p:spPr>
          <a:xfrm>
            <a:off x="-20487" y="1241411"/>
            <a:ext cx="12192000" cy="5631523"/>
          </a:xfrm>
          <a:prstGeom prst="rect">
            <a:avLst/>
          </a:prstGeom>
          <a:blipFill dpi="0" rotWithShape="1">
            <a:blip r:embed="rId13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D48C68D8-8F0C-95CF-BF83-F696CBA2B211}"/>
              </a:ext>
            </a:extLst>
          </p:cNvPr>
          <p:cNvSpPr/>
          <p:nvPr/>
        </p:nvSpPr>
        <p:spPr>
          <a:xfrm>
            <a:off x="3983996" y="4619017"/>
            <a:ext cx="4303255" cy="193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50" dirty="0">
                <a:solidFill>
                  <a:schemeClr val="accent1"/>
                </a:solidFill>
                <a:cs typeface="Calibri" pitchFamily="34" charset="-120"/>
              </a:rPr>
              <a:t>Key Skills for Data Science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979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4222E-2385-BEDF-6BA1-C44D05DB6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BEC09384-3FDB-CF6A-D61E-2B04AA264831}"/>
              </a:ext>
            </a:extLst>
          </p:cNvPr>
          <p:cNvSpPr/>
          <p:nvPr/>
        </p:nvSpPr>
        <p:spPr>
          <a:xfrm>
            <a:off x="0" y="1226477"/>
            <a:ext cx="12192000" cy="5631523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Shape 14">
            <a:extLst>
              <a:ext uri="{FF2B5EF4-FFF2-40B4-BE49-F238E27FC236}">
                <a16:creationId xmlns:a16="http://schemas.microsoft.com/office/drawing/2014/main" id="{0FA6D946-EF47-ADF7-20F1-CADFB88A0BB7}"/>
              </a:ext>
            </a:extLst>
          </p:cNvPr>
          <p:cNvSpPr/>
          <p:nvPr/>
        </p:nvSpPr>
        <p:spPr>
          <a:xfrm>
            <a:off x="7910751" y="3759606"/>
            <a:ext cx="2697480" cy="1737360"/>
          </a:xfrm>
          <a:prstGeom prst="rect">
            <a:avLst/>
          </a:prstGeom>
          <a:solidFill>
            <a:schemeClr val="accent1">
              <a:alpha val="14000"/>
            </a:schemeClr>
          </a:solidFill>
          <a:ln w="12700">
            <a:solidFill>
              <a:srgbClr val="E0E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BDEF3B-78A8-A55E-E85D-D026C461DE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8872" y="334315"/>
            <a:ext cx="10515599" cy="904444"/>
          </a:xfrm>
        </p:spPr>
        <p:txBody>
          <a:bodyPr/>
          <a:lstStyle/>
          <a:p>
            <a:r>
              <a:rPr lang="en-CA" dirty="0"/>
              <a:t>What Skills Do You Need?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156E7C-64F1-0258-D22F-390D241BF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040438"/>
            <a:ext cx="15684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61061A4F-E12E-D392-22F6-28346C417CD9}"/>
              </a:ext>
            </a:extLst>
          </p:cNvPr>
          <p:cNvSpPr/>
          <p:nvPr/>
        </p:nvSpPr>
        <p:spPr>
          <a:xfrm>
            <a:off x="838200" y="1482951"/>
            <a:ext cx="2697480" cy="1737360"/>
          </a:xfrm>
          <a:prstGeom prst="rect">
            <a:avLst/>
          </a:prstGeom>
          <a:solidFill>
            <a:schemeClr val="accent1">
              <a:alpha val="14000"/>
            </a:schemeClr>
          </a:solidFill>
          <a:ln w="12700">
            <a:solidFill>
              <a:srgbClr val="E0E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E6D4687E-DB6C-D071-4600-41E2DC6E90EA}"/>
              </a:ext>
            </a:extLst>
          </p:cNvPr>
          <p:cNvSpPr/>
          <p:nvPr/>
        </p:nvSpPr>
        <p:spPr>
          <a:xfrm>
            <a:off x="1588008" y="1684119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B"/>
                </a:solidFill>
                <a:ea typeface="Trebuchet MS" pitchFamily="34" charset="-122"/>
                <a:cs typeface="Calibri" panose="020F0502020204030204" pitchFamily="34" charset="0"/>
              </a:rPr>
              <a:t>Math &amp; Stats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7E3A18A3-591A-67D4-A185-8AC420CE1C63}"/>
              </a:ext>
            </a:extLst>
          </p:cNvPr>
          <p:cNvSpPr/>
          <p:nvPr/>
        </p:nvSpPr>
        <p:spPr>
          <a:xfrm>
            <a:off x="975360" y="2232759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Algebra, probability, statistics - the engine behind every prediction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5160F081-F938-CE80-CBD2-1DD9D6BF3917}"/>
              </a:ext>
            </a:extLst>
          </p:cNvPr>
          <p:cNvSpPr/>
          <p:nvPr/>
        </p:nvSpPr>
        <p:spPr>
          <a:xfrm>
            <a:off x="4374475" y="1484343"/>
            <a:ext cx="2697480" cy="1737360"/>
          </a:xfrm>
          <a:prstGeom prst="rect">
            <a:avLst/>
          </a:prstGeom>
          <a:solidFill>
            <a:schemeClr val="accent1">
              <a:alpha val="14000"/>
            </a:schemeClr>
          </a:solidFill>
          <a:ln w="12700">
            <a:solidFill>
              <a:srgbClr val="E0E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02BE39A8-AB33-09E4-115E-88EC04D00D80}"/>
              </a:ext>
            </a:extLst>
          </p:cNvPr>
          <p:cNvSpPr/>
          <p:nvPr/>
        </p:nvSpPr>
        <p:spPr>
          <a:xfrm>
            <a:off x="5124283" y="1685511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B"/>
                </a:solidFill>
                <a:ea typeface="Trebuchet MS" pitchFamily="34" charset="-122"/>
                <a:cs typeface="Calibri" panose="020F0502020204030204" pitchFamily="34" charset="0"/>
              </a:rPr>
              <a:t>Programming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7A2E746B-0D30-2C16-8F33-3ADD117F8B4D}"/>
              </a:ext>
            </a:extLst>
          </p:cNvPr>
          <p:cNvSpPr/>
          <p:nvPr/>
        </p:nvSpPr>
        <p:spPr>
          <a:xfrm>
            <a:off x="4511635" y="2234151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Python or R - the most used languages. 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4955F4FA-4D60-1037-2B85-C2926B5EE2F8}"/>
              </a:ext>
            </a:extLst>
          </p:cNvPr>
          <p:cNvSpPr/>
          <p:nvPr/>
        </p:nvSpPr>
        <p:spPr>
          <a:xfrm>
            <a:off x="7910751" y="1482951"/>
            <a:ext cx="2697480" cy="1737360"/>
          </a:xfrm>
          <a:prstGeom prst="rect">
            <a:avLst/>
          </a:prstGeom>
          <a:solidFill>
            <a:schemeClr val="accent1">
              <a:alpha val="14000"/>
            </a:schemeClr>
          </a:solidFill>
          <a:ln w="12700">
            <a:solidFill>
              <a:srgbClr val="E0E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3B1C3242-37EE-5DFB-782B-DB5E008AA826}"/>
              </a:ext>
            </a:extLst>
          </p:cNvPr>
          <p:cNvSpPr/>
          <p:nvPr/>
        </p:nvSpPr>
        <p:spPr>
          <a:xfrm>
            <a:off x="8660559" y="1684119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B"/>
                </a:solidFill>
                <a:ea typeface="Trebuchet MS" pitchFamily="34" charset="-122"/>
                <a:cs typeface="Calibri" panose="020F0502020204030204" pitchFamily="34" charset="0"/>
              </a:rPr>
              <a:t>Critical Thinking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0583867A-4D54-8E3F-BF51-3A0283395AF9}"/>
              </a:ext>
            </a:extLst>
          </p:cNvPr>
          <p:cNvSpPr/>
          <p:nvPr/>
        </p:nvSpPr>
        <p:spPr>
          <a:xfrm>
            <a:off x="8047911" y="2232759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Asking the right question is half the answer. Curiosity is the most important aspect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65" name="Shape 19">
            <a:extLst>
              <a:ext uri="{FF2B5EF4-FFF2-40B4-BE49-F238E27FC236}">
                <a16:creationId xmlns:a16="http://schemas.microsoft.com/office/drawing/2014/main" id="{E07184EC-6F07-B8FE-567E-D2DA306B3AEF}"/>
              </a:ext>
            </a:extLst>
          </p:cNvPr>
          <p:cNvSpPr/>
          <p:nvPr/>
        </p:nvSpPr>
        <p:spPr>
          <a:xfrm>
            <a:off x="838200" y="3759606"/>
            <a:ext cx="2697480" cy="1737360"/>
          </a:xfrm>
          <a:prstGeom prst="rect">
            <a:avLst/>
          </a:prstGeom>
          <a:solidFill>
            <a:schemeClr val="accent1">
              <a:alpha val="14000"/>
            </a:schemeClr>
          </a:solidFill>
          <a:ln w="12700">
            <a:solidFill>
              <a:srgbClr val="E0E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717D5951-DB4C-B9BD-3E94-8B3487793E47}"/>
              </a:ext>
            </a:extLst>
          </p:cNvPr>
          <p:cNvSpPr/>
          <p:nvPr/>
        </p:nvSpPr>
        <p:spPr>
          <a:xfrm>
            <a:off x="1588008" y="396077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B"/>
                </a:solidFill>
                <a:ea typeface="Trebuchet MS" pitchFamily="34" charset="-122"/>
                <a:cs typeface="Calibri" panose="020F0502020204030204" pitchFamily="34" charset="0"/>
              </a:rPr>
              <a:t>Data Storytelling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69" name="Text 23">
            <a:extLst>
              <a:ext uri="{FF2B5EF4-FFF2-40B4-BE49-F238E27FC236}">
                <a16:creationId xmlns:a16="http://schemas.microsoft.com/office/drawing/2014/main" id="{0A18F32A-3609-B74C-426E-B91EDEFCAAB2}"/>
              </a:ext>
            </a:extLst>
          </p:cNvPr>
          <p:cNvSpPr/>
          <p:nvPr/>
        </p:nvSpPr>
        <p:spPr>
          <a:xfrm>
            <a:off x="975360" y="4509414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Turning numbers into charts and insights that non-experts understand.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70" name="Shape 24">
            <a:extLst>
              <a:ext uri="{FF2B5EF4-FFF2-40B4-BE49-F238E27FC236}">
                <a16:creationId xmlns:a16="http://schemas.microsoft.com/office/drawing/2014/main" id="{7D84BA74-FDFA-5A7C-7722-A66D71D2BC88}"/>
              </a:ext>
            </a:extLst>
          </p:cNvPr>
          <p:cNvSpPr/>
          <p:nvPr/>
        </p:nvSpPr>
        <p:spPr>
          <a:xfrm>
            <a:off x="4374475" y="3760998"/>
            <a:ext cx="2697480" cy="1737360"/>
          </a:xfrm>
          <a:prstGeom prst="rect">
            <a:avLst/>
          </a:prstGeom>
          <a:solidFill>
            <a:schemeClr val="accent1">
              <a:alpha val="14000"/>
            </a:schemeClr>
          </a:solidFill>
          <a:ln w="12700">
            <a:solidFill>
              <a:srgbClr val="E0E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73" name="Text 27">
            <a:extLst>
              <a:ext uri="{FF2B5EF4-FFF2-40B4-BE49-F238E27FC236}">
                <a16:creationId xmlns:a16="http://schemas.microsoft.com/office/drawing/2014/main" id="{C047B36B-BE1C-21AF-9432-69601CA5E83C}"/>
              </a:ext>
            </a:extLst>
          </p:cNvPr>
          <p:cNvSpPr/>
          <p:nvPr/>
        </p:nvSpPr>
        <p:spPr>
          <a:xfrm>
            <a:off x="5124283" y="396216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B"/>
                </a:solidFill>
                <a:ea typeface="Trebuchet MS" pitchFamily="34" charset="-122"/>
                <a:cs typeface="Calibri" panose="020F0502020204030204" pitchFamily="34" charset="0"/>
              </a:rPr>
              <a:t>Domain Knowledge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74" name="Text 28">
            <a:extLst>
              <a:ext uri="{FF2B5EF4-FFF2-40B4-BE49-F238E27FC236}">
                <a16:creationId xmlns:a16="http://schemas.microsoft.com/office/drawing/2014/main" id="{273B0673-3BCB-4B7D-EC74-63C4D90C2708}"/>
              </a:ext>
            </a:extLst>
          </p:cNvPr>
          <p:cNvSpPr/>
          <p:nvPr/>
        </p:nvSpPr>
        <p:spPr>
          <a:xfrm>
            <a:off x="4511635" y="4510806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Understanding the field (health, finance, etc.) so data has context and can be used.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77" name="Text 32">
            <a:extLst>
              <a:ext uri="{FF2B5EF4-FFF2-40B4-BE49-F238E27FC236}">
                <a16:creationId xmlns:a16="http://schemas.microsoft.com/office/drawing/2014/main" id="{72B26567-2CBC-24F9-6C5B-B212424FE8E7}"/>
              </a:ext>
            </a:extLst>
          </p:cNvPr>
          <p:cNvSpPr/>
          <p:nvPr/>
        </p:nvSpPr>
        <p:spPr>
          <a:xfrm>
            <a:off x="8660559" y="396077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B"/>
                </a:solidFill>
                <a:ea typeface="Trebuchet MS" pitchFamily="34" charset="-122"/>
                <a:cs typeface="Calibri" panose="020F0502020204030204" pitchFamily="34" charset="0"/>
              </a:rPr>
              <a:t>Communication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78" name="Text 33">
            <a:extLst>
              <a:ext uri="{FF2B5EF4-FFF2-40B4-BE49-F238E27FC236}">
                <a16:creationId xmlns:a16="http://schemas.microsoft.com/office/drawing/2014/main" id="{DB89B8BD-2623-808D-54BE-D6C3955D6692}"/>
              </a:ext>
            </a:extLst>
          </p:cNvPr>
          <p:cNvSpPr/>
          <p:nvPr/>
        </p:nvSpPr>
        <p:spPr>
          <a:xfrm>
            <a:off x="8047911" y="4509414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Working with teams, writing reports, explaining results clearly.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F566DDE-92E5-DC34-BDF5-16B03376F54E}"/>
              </a:ext>
            </a:extLst>
          </p:cNvPr>
          <p:cNvSpPr/>
          <p:nvPr/>
        </p:nvSpPr>
        <p:spPr>
          <a:xfrm>
            <a:off x="982115" y="1613399"/>
            <a:ext cx="487021" cy="434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DD13289-2C45-BE62-DA5B-F095BDD8DA0A}"/>
              </a:ext>
            </a:extLst>
          </p:cNvPr>
          <p:cNvSpPr/>
          <p:nvPr/>
        </p:nvSpPr>
        <p:spPr>
          <a:xfrm>
            <a:off x="982115" y="3956494"/>
            <a:ext cx="487021" cy="434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755D42A-4C41-C8F2-1242-E3288542D95D}"/>
              </a:ext>
            </a:extLst>
          </p:cNvPr>
          <p:cNvSpPr/>
          <p:nvPr/>
        </p:nvSpPr>
        <p:spPr>
          <a:xfrm>
            <a:off x="4559861" y="1621507"/>
            <a:ext cx="487021" cy="434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D7E9EEC-11FE-003B-74CE-93FEE19FD13F}"/>
              </a:ext>
            </a:extLst>
          </p:cNvPr>
          <p:cNvSpPr/>
          <p:nvPr/>
        </p:nvSpPr>
        <p:spPr>
          <a:xfrm>
            <a:off x="4555319" y="3958930"/>
            <a:ext cx="487021" cy="434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901B799-10A1-CA59-6549-A662BCBB80D6}"/>
              </a:ext>
            </a:extLst>
          </p:cNvPr>
          <p:cNvSpPr/>
          <p:nvPr/>
        </p:nvSpPr>
        <p:spPr>
          <a:xfrm>
            <a:off x="8104958" y="1613399"/>
            <a:ext cx="487021" cy="434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F23C439-17DA-0BCD-5C45-6D96DDD108FB}"/>
              </a:ext>
            </a:extLst>
          </p:cNvPr>
          <p:cNvSpPr/>
          <p:nvPr/>
        </p:nvSpPr>
        <p:spPr>
          <a:xfrm>
            <a:off x="8104958" y="3956494"/>
            <a:ext cx="487021" cy="434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9" name="Graphic 88" descr="Mathematics with solid fill">
            <a:extLst>
              <a:ext uri="{FF2B5EF4-FFF2-40B4-BE49-F238E27FC236}">
                <a16:creationId xmlns:a16="http://schemas.microsoft.com/office/drawing/2014/main" id="{522AB126-AAF7-21F9-3835-F2729DB1CC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4777" y="1623009"/>
            <a:ext cx="421696" cy="421696"/>
          </a:xfrm>
          <a:prstGeom prst="rect">
            <a:avLst/>
          </a:prstGeom>
        </p:spPr>
      </p:pic>
      <p:pic>
        <p:nvPicPr>
          <p:cNvPr id="91" name="Graphic 90" descr="Newspaper with solid fill">
            <a:extLst>
              <a:ext uri="{FF2B5EF4-FFF2-40B4-BE49-F238E27FC236}">
                <a16:creationId xmlns:a16="http://schemas.microsoft.com/office/drawing/2014/main" id="{F0523095-0580-C22C-BD78-565132A065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275" y="3999441"/>
            <a:ext cx="331841" cy="331841"/>
          </a:xfrm>
          <a:prstGeom prst="rect">
            <a:avLst/>
          </a:prstGeom>
        </p:spPr>
      </p:pic>
      <p:pic>
        <p:nvPicPr>
          <p:cNvPr id="93" name="Graphic 92" descr="Head with gears with solid fill">
            <a:extLst>
              <a:ext uri="{FF2B5EF4-FFF2-40B4-BE49-F238E27FC236}">
                <a16:creationId xmlns:a16="http://schemas.microsoft.com/office/drawing/2014/main" id="{CD127C78-87B8-56DF-F481-A5A11C936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8904" y="3953199"/>
            <a:ext cx="427107" cy="427107"/>
          </a:xfrm>
          <a:prstGeom prst="rect">
            <a:avLst/>
          </a:prstGeom>
        </p:spPr>
      </p:pic>
      <p:pic>
        <p:nvPicPr>
          <p:cNvPr id="95" name="Graphic 94" descr="Web design with solid fill">
            <a:extLst>
              <a:ext uri="{FF2B5EF4-FFF2-40B4-BE49-F238E27FC236}">
                <a16:creationId xmlns:a16="http://schemas.microsoft.com/office/drawing/2014/main" id="{61A947D2-2367-B5C0-2686-0E5CD2873B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5869" y="1627044"/>
            <a:ext cx="409542" cy="409542"/>
          </a:xfrm>
          <a:prstGeom prst="rect">
            <a:avLst/>
          </a:prstGeom>
        </p:spPr>
      </p:pic>
      <p:pic>
        <p:nvPicPr>
          <p:cNvPr id="97" name="Graphic 96" descr="Idea with solid fill">
            <a:extLst>
              <a:ext uri="{FF2B5EF4-FFF2-40B4-BE49-F238E27FC236}">
                <a16:creationId xmlns:a16="http://schemas.microsoft.com/office/drawing/2014/main" id="{85468D02-3DB5-CD20-EEE2-B334117474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41056" y="1617598"/>
            <a:ext cx="427107" cy="427107"/>
          </a:xfrm>
          <a:prstGeom prst="rect">
            <a:avLst/>
          </a:prstGeom>
        </p:spPr>
      </p:pic>
      <p:pic>
        <p:nvPicPr>
          <p:cNvPr id="99" name="Graphic 98" descr="Chat with solid fill">
            <a:extLst>
              <a:ext uri="{FF2B5EF4-FFF2-40B4-BE49-F238E27FC236}">
                <a16:creationId xmlns:a16="http://schemas.microsoft.com/office/drawing/2014/main" id="{664D0F7D-2F5A-772E-8F02-2C5A5CF25E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34914" y="3963435"/>
            <a:ext cx="427107" cy="42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15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118872" y="338328"/>
            <a:ext cx="10515599" cy="904444"/>
          </a:xfrm>
        </p:spPr>
        <p:txBody>
          <a:bodyPr/>
          <a:lstStyle/>
          <a:p>
            <a:r>
              <a:rPr lang="en-CA" dirty="0"/>
              <a:t>Data Science Starts in a Spreadsheet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CFA0F11A-6651-46F3-8E1F-FCEF705042BA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18872" y="1548384"/>
            <a:ext cx="5762875" cy="4679695"/>
          </a:xfrm>
          <a:solidFill>
            <a:schemeClr val="accent1">
              <a:alpha val="14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A2E3B"/>
                </a:solidFill>
                <a:ea typeface="Calibri" pitchFamily="34" charset="-122"/>
                <a:cs typeface="Calibri" pitchFamily="34" charset="-120"/>
              </a:rPr>
              <a:t>Can we predict whether a student gets an A on their exam
based on their habits and grades?
</a:t>
            </a:r>
            <a:r>
              <a:rPr lang="en-US" sz="1900" b="1" dirty="0">
                <a:solidFill>
                  <a:srgbClr val="1A2E3B"/>
                </a:solidFill>
                <a:ea typeface="Calibri" pitchFamily="34" charset="-122"/>
                <a:cs typeface="Calibri" pitchFamily="34" charset="-120"/>
              </a:rPr>
              <a:t>Features (inputs):</a:t>
            </a:r>
            <a:endParaRPr lang="en-US" sz="1900" dirty="0"/>
          </a:p>
          <a:p>
            <a:pPr marL="342900" indent="-342900">
              <a:buSzPct val="100000"/>
            </a:pPr>
            <a:r>
              <a:rPr lang="en-US" sz="1900" dirty="0">
                <a:solidFill>
                  <a:srgbClr val="4A6274"/>
                </a:solidFill>
                <a:ea typeface="Calibri" pitchFamily="34" charset="-122"/>
                <a:cs typeface="Calibri" pitchFamily="34" charset="-120"/>
              </a:rPr>
              <a:t>Hours studied per week</a:t>
            </a:r>
            <a:endParaRPr lang="en-US" sz="1900" dirty="0"/>
          </a:p>
          <a:p>
            <a:pPr marL="342900" indent="-342900">
              <a:buSzPct val="100000"/>
            </a:pPr>
            <a:r>
              <a:rPr lang="en-US" sz="1900" dirty="0">
                <a:solidFill>
                  <a:srgbClr val="4A6274"/>
                </a:solidFill>
                <a:ea typeface="Calibri" pitchFamily="34" charset="-122"/>
                <a:cs typeface="Calibri" pitchFamily="34" charset="-120"/>
              </a:rPr>
              <a:t>Sleep hours per night</a:t>
            </a:r>
            <a:endParaRPr lang="en-US" sz="1900" dirty="0"/>
          </a:p>
          <a:p>
            <a:pPr marL="342900" indent="-342900">
              <a:buSzPct val="100000"/>
            </a:pPr>
            <a:r>
              <a:rPr lang="en-US" sz="1900" dirty="0">
                <a:solidFill>
                  <a:srgbClr val="4A6274"/>
                </a:solidFill>
                <a:ea typeface="Calibri" pitchFamily="34" charset="-122"/>
                <a:cs typeface="Calibri" pitchFamily="34" charset="-120"/>
              </a:rPr>
              <a:t>Math grade (0–100)</a:t>
            </a:r>
            <a:endParaRPr lang="en-US" sz="1900" dirty="0"/>
          </a:p>
          <a:p>
            <a:pPr marL="342900" indent="-342900">
              <a:buSzPct val="100000"/>
            </a:pPr>
            <a:r>
              <a:rPr lang="en-US" sz="1900" dirty="0">
                <a:solidFill>
                  <a:srgbClr val="4A6274"/>
                </a:solidFill>
                <a:ea typeface="Calibri" pitchFamily="34" charset="-122"/>
                <a:cs typeface="Calibri" pitchFamily="34" charset="-120"/>
              </a:rPr>
              <a:t>Eats avocados? (Yes/No) 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
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2E3B"/>
                </a:solidFill>
                <a:ea typeface="Calibri" pitchFamily="34" charset="-122"/>
                <a:cs typeface="Calibri" pitchFamily="34" charset="-120"/>
              </a:rPr>
              <a:t>Target (output):</a:t>
            </a:r>
            <a:endParaRPr lang="en-US" sz="1900" dirty="0"/>
          </a:p>
          <a:p>
            <a:pPr marL="342900" indent="-342900">
              <a:buSzPct val="100000"/>
            </a:pPr>
            <a:r>
              <a:rPr lang="en-US" sz="1900" dirty="0">
                <a:solidFill>
                  <a:srgbClr val="4A6274"/>
                </a:solidFill>
                <a:ea typeface="Calibri" pitchFamily="34" charset="-122"/>
                <a:cs typeface="Calibri" pitchFamily="34" charset="-120"/>
              </a:rPr>
              <a:t>Gets an A on exam? (Yes/No)</a:t>
            </a:r>
            <a:endParaRPr lang="en-US" sz="1900" dirty="0"/>
          </a:p>
          <a:p>
            <a:endParaRPr lang="en-CA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D0A127-6014-8067-38F4-2702020D5B27}"/>
              </a:ext>
            </a:extLst>
          </p:cNvPr>
          <p:cNvCxnSpPr>
            <a:cxnSpLocks/>
          </p:cNvCxnSpPr>
          <p:nvPr/>
        </p:nvCxnSpPr>
        <p:spPr>
          <a:xfrm>
            <a:off x="6110795" y="1548384"/>
            <a:ext cx="0" cy="4770982"/>
          </a:xfrm>
          <a:prstGeom prst="line">
            <a:avLst/>
          </a:prstGeom>
          <a:ln>
            <a:solidFill>
              <a:srgbClr val="009F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D5C8766C-4F66-CB2A-99C8-FF3C9D9CDAA0}"/>
              </a:ext>
            </a:extLst>
          </p:cNvPr>
          <p:cNvSpPr txBox="1">
            <a:spLocks/>
          </p:cNvSpPr>
          <p:nvPr/>
        </p:nvSpPr>
        <p:spPr>
          <a:xfrm>
            <a:off x="118872" y="790550"/>
            <a:ext cx="10515599" cy="9044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4800" b="0" i="0" kern="1200">
                <a:solidFill>
                  <a:srgbClr val="003E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800" dirty="0"/>
              <a:t>Can eating avocados predict your exam grade? Let's find out.</a:t>
            </a:r>
          </a:p>
        </p:txBody>
      </p:sp>
      <p:pic>
        <p:nvPicPr>
          <p:cNvPr id="1028" name="Picture 4" descr="AVOCADOS - Avron Canada">
            <a:extLst>
              <a:ext uri="{FF2B5EF4-FFF2-40B4-BE49-F238E27FC236}">
                <a16:creationId xmlns:a16="http://schemas.microsoft.com/office/drawing/2014/main" id="{CFC75A6F-A709-5DC4-157B-D95BB78C9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579" y="2488557"/>
            <a:ext cx="2472168" cy="247216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6">
            <a:extLst>
              <a:ext uri="{FF2B5EF4-FFF2-40B4-BE49-F238E27FC236}">
                <a16:creationId xmlns:a16="http://schemas.microsoft.com/office/drawing/2014/main" id="{FC59F2FA-0BFA-9F5D-0D41-0EB385F24AC5}"/>
              </a:ext>
            </a:extLst>
          </p:cNvPr>
          <p:cNvSpPr/>
          <p:nvPr/>
        </p:nvSpPr>
        <p:spPr>
          <a:xfrm>
            <a:off x="6339844" y="154869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3B"/>
                </a:solidFill>
                <a:ea typeface="Trebuchet MS" pitchFamily="34" charset="-122"/>
                <a:cs typeface="Calibri" panose="020F0502020204030204" pitchFamily="34" charset="0"/>
              </a:rPr>
              <a:t>Our Excel Spreadsheet</a:t>
            </a:r>
            <a:endParaRPr lang="en-US" sz="2000" dirty="0">
              <a:cs typeface="Calibri" panose="020F0502020204030204" pitchFamily="34" charset="0"/>
            </a:endParaRP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A86D6940-D555-50C7-2F59-2162F3FCB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151631"/>
              </p:ext>
            </p:extLst>
          </p:nvPr>
        </p:nvGraphicFramePr>
        <p:xfrm>
          <a:off x="6339843" y="2000911"/>
          <a:ext cx="4991769" cy="2959810"/>
        </p:xfrm>
        <a:graphic>
          <a:graphicData uri="http://schemas.openxmlformats.org/drawingml/2006/table">
            <a:tbl>
              <a:tblPr/>
              <a:tblGrid>
                <a:gridCol w="1057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1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7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Student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Hrs/Wk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Sleep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Math 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Avocado?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Got A?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Alice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88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Bob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61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Carla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79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David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73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Elena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94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Frank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55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Grace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85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Henry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66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3B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9">
            <a:extLst>
              <a:ext uri="{FF2B5EF4-FFF2-40B4-BE49-F238E27FC236}">
                <a16:creationId xmlns:a16="http://schemas.microsoft.com/office/drawing/2014/main" id="{46E5B90D-045D-3BBE-65B2-78EE9DAA37C9}"/>
              </a:ext>
            </a:extLst>
          </p:cNvPr>
          <p:cNvSpPr/>
          <p:nvPr/>
        </p:nvSpPr>
        <p:spPr>
          <a:xfrm>
            <a:off x="6339842" y="5146267"/>
            <a:ext cx="4991759" cy="1081812"/>
          </a:xfrm>
          <a:prstGeom prst="rect">
            <a:avLst/>
          </a:prstGeom>
          <a:solidFill>
            <a:schemeClr val="accent1">
              <a:alpha val="14396"/>
            </a:schemeClr>
          </a:solidFill>
          <a:ln/>
        </p:spPr>
        <p:txBody>
          <a:bodyPr wrap="square" lIns="25400" tIns="50800" rIns="508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ML model learns: study time &amp; math grade matter most. Avocados?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7145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CFA0F11A-6651-46F3-8E1F-FCEF705042BA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144C3AD-43EC-68F5-37A5-5DB72E265EA7}"/>
              </a:ext>
            </a:extLst>
          </p:cNvPr>
          <p:cNvSpPr txBox="1">
            <a:spLocks/>
          </p:cNvSpPr>
          <p:nvPr/>
        </p:nvSpPr>
        <p:spPr>
          <a:xfrm>
            <a:off x="118872" y="334315"/>
            <a:ext cx="10515599" cy="904444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4800" dirty="0">
                <a:solidFill>
                  <a:schemeClr val="accent1"/>
                </a:solidFill>
              </a:rPr>
              <a:t>Dashboard Demo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94B9179-A5A6-66E2-FA08-38745AA57CA5}"/>
              </a:ext>
            </a:extLst>
          </p:cNvPr>
          <p:cNvSpPr/>
          <p:nvPr/>
        </p:nvSpPr>
        <p:spPr>
          <a:xfrm>
            <a:off x="118871" y="1238758"/>
            <a:ext cx="9997401" cy="4791651"/>
          </a:xfrm>
          <a:prstGeom prst="rect">
            <a:avLst/>
          </a:prstGeom>
          <a:solidFill>
            <a:schemeClr val="accent1">
              <a:alpha val="13979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026" name="Picture 2" descr="QR Code Image">
            <a:extLst>
              <a:ext uri="{FF2B5EF4-FFF2-40B4-BE49-F238E27FC236}">
                <a16:creationId xmlns:a16="http://schemas.microsoft.com/office/drawing/2014/main" id="{1700288F-35E0-00AB-A573-4105F8B0B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99" y="1376444"/>
            <a:ext cx="2156037" cy="215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F48D65-76CD-F61C-82A0-5B3785EC2AFA}"/>
              </a:ext>
            </a:extLst>
          </p:cNvPr>
          <p:cNvSpPr txBox="1"/>
          <p:nvPr/>
        </p:nvSpPr>
        <p:spPr>
          <a:xfrm>
            <a:off x="2885440" y="1591733"/>
            <a:ext cx="61095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Scan here to begin voting</a:t>
            </a:r>
          </a:p>
          <a:p>
            <a:endParaRPr lang="en-CA" dirty="0"/>
          </a:p>
          <a:p>
            <a:r>
              <a:rPr lang="en-CA" dirty="0"/>
              <a:t>The dashboard itself is available on </a:t>
            </a:r>
            <a:r>
              <a:rPr lang="en-CA" dirty="0">
                <a:hlinkClick r:id="rId3"/>
              </a:rPr>
              <a:t>https://afrazmathapp.streamlit.app/</a:t>
            </a:r>
            <a:endParaRPr lang="en-CA" dirty="0"/>
          </a:p>
          <a:p>
            <a:endParaRPr lang="en-CA" dirty="0"/>
          </a:p>
          <a:p>
            <a:r>
              <a:rPr lang="en-CA" dirty="0"/>
              <a:t>Note: The voting page and the dashboard page are different</a:t>
            </a:r>
          </a:p>
        </p:txBody>
      </p:sp>
    </p:spTree>
    <p:extLst>
      <p:ext uri="{BB962C8B-B14F-4D97-AF65-F5344CB8AC3E}">
        <p14:creationId xmlns:p14="http://schemas.microsoft.com/office/powerpoint/2010/main" val="3745327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0EE77-7C94-74AC-57F7-66D8E937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6CD62DA9-8A3C-687C-84AA-E137A1226FD1}"/>
              </a:ext>
            </a:extLst>
          </p:cNvPr>
          <p:cNvSpPr/>
          <p:nvPr/>
        </p:nvSpPr>
        <p:spPr>
          <a:xfrm>
            <a:off x="266222" y="5622165"/>
            <a:ext cx="11656431" cy="1055305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90FF02-FED9-B829-2599-DB79FFC2F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8872" y="334315"/>
            <a:ext cx="10515599" cy="904444"/>
          </a:xfrm>
        </p:spPr>
        <p:txBody>
          <a:bodyPr>
            <a:normAutofit fontScale="77500" lnSpcReduction="20000"/>
          </a:bodyPr>
          <a:lstStyle/>
          <a:p>
            <a:r>
              <a:rPr lang="en-CA" dirty="0"/>
              <a:t>Data Science &amp; Healthcare- The Future And Present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1EA4A8-33AF-DBB8-89E3-EA6BA914299D}"/>
              </a:ext>
            </a:extLst>
          </p:cNvPr>
          <p:cNvSpPr/>
          <p:nvPr/>
        </p:nvSpPr>
        <p:spPr>
          <a:xfrm>
            <a:off x="266222" y="1278428"/>
            <a:ext cx="3813048" cy="2029968"/>
          </a:xfrm>
          <a:prstGeom prst="rect">
            <a:avLst/>
          </a:prstGeom>
          <a:solidFill>
            <a:schemeClr val="accent1">
              <a:alpha val="13625"/>
            </a:schemeClr>
          </a:solidFill>
          <a:ln w="6350">
            <a:solidFill>
              <a:srgbClr val="DD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7146D2D-EA87-4293-AD30-31242372E494}"/>
              </a:ext>
            </a:extLst>
          </p:cNvPr>
          <p:cNvSpPr/>
          <p:nvPr/>
        </p:nvSpPr>
        <p:spPr>
          <a:xfrm>
            <a:off x="375950" y="1369868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FA5D8-E372-B78F-E639-4FDFDB9649F3}"/>
              </a:ext>
            </a:extLst>
          </p:cNvPr>
          <p:cNvSpPr txBox="1"/>
          <p:nvPr/>
        </p:nvSpPr>
        <p:spPr>
          <a:xfrm>
            <a:off x="741710" y="1351580"/>
            <a:ext cx="3264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chemeClr val="accent1"/>
                </a:solidFill>
                <a:cs typeface="Calibri" panose="020F0502020204030204" pitchFamily="34" charset="0"/>
              </a:rPr>
              <a:t>CLINICAL CARE &amp;
PATIENT OUTCOMES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399B5C-6707-A7E7-766B-67B1A75A118C}"/>
              </a:ext>
            </a:extLst>
          </p:cNvPr>
          <p:cNvSpPr txBox="1"/>
          <p:nvPr/>
        </p:nvSpPr>
        <p:spPr>
          <a:xfrm>
            <a:off x="449102" y="1827068"/>
            <a:ext cx="3630168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buChar char="•"/>
            </a:pPr>
            <a:r>
              <a:rPr sz="1400" dirty="0">
                <a:solidFill>
                  <a:srgbClr val="555555"/>
                </a:solidFill>
                <a:cs typeface="Calibri" panose="020F0502020204030204" pitchFamily="34" charset="0"/>
              </a:rPr>
              <a:t>Predict risks, complications &amp; readmissions</a:t>
            </a:r>
          </a:p>
          <a:p>
            <a:pPr>
              <a:spcBef>
                <a:spcPts val="150"/>
              </a:spcBef>
              <a:buChar char="•"/>
            </a:pPr>
            <a:r>
              <a:rPr sz="1400" dirty="0">
                <a:solidFill>
                  <a:srgbClr val="555555"/>
                </a:solidFill>
                <a:cs typeface="Calibri" panose="020F0502020204030204" pitchFamily="34" charset="0"/>
              </a:rPr>
              <a:t>Support diagnosis &amp; treatment decisions</a:t>
            </a:r>
          </a:p>
          <a:p>
            <a:pPr>
              <a:spcBef>
                <a:spcPts val="150"/>
              </a:spcBef>
              <a:buChar char="•"/>
            </a:pPr>
            <a:r>
              <a:rPr sz="1400" dirty="0">
                <a:solidFill>
                  <a:srgbClr val="555555"/>
                </a:solidFill>
                <a:cs typeface="Calibri" panose="020F0502020204030204" pitchFamily="34" charset="0"/>
              </a:rPr>
              <a:t>Medical imaging for faster, more accurate detection</a:t>
            </a:r>
          </a:p>
          <a:p>
            <a:pPr>
              <a:spcBef>
                <a:spcPts val="150"/>
              </a:spcBef>
              <a:buChar char="•"/>
            </a:pPr>
            <a:r>
              <a:rPr sz="1400" dirty="0">
                <a:solidFill>
                  <a:srgbClr val="555555"/>
                </a:solidFill>
                <a:cs typeface="Calibri" panose="020F0502020204030204" pitchFamily="34" charset="0"/>
              </a:rPr>
              <a:t>Personalized treatments based on patient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AB0D24-B8EB-6C46-1BE4-348E59AAA1F0}"/>
              </a:ext>
            </a:extLst>
          </p:cNvPr>
          <p:cNvSpPr/>
          <p:nvPr/>
        </p:nvSpPr>
        <p:spPr>
          <a:xfrm>
            <a:off x="4188998" y="1278428"/>
            <a:ext cx="3813048" cy="2029968"/>
          </a:xfrm>
          <a:prstGeom prst="rect">
            <a:avLst/>
          </a:prstGeom>
          <a:solidFill>
            <a:schemeClr val="accent1">
              <a:alpha val="13625"/>
            </a:schemeClr>
          </a:solidFill>
          <a:ln w="6350">
            <a:solidFill>
              <a:srgbClr val="DD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BDE500-CA3E-48FD-32FF-0893C7B1E98F}"/>
              </a:ext>
            </a:extLst>
          </p:cNvPr>
          <p:cNvSpPr/>
          <p:nvPr/>
        </p:nvSpPr>
        <p:spPr>
          <a:xfrm>
            <a:off x="4298726" y="1369868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8015C1-C3ED-0B4F-820A-61DABDF5E29E}"/>
              </a:ext>
            </a:extLst>
          </p:cNvPr>
          <p:cNvSpPr txBox="1"/>
          <p:nvPr/>
        </p:nvSpPr>
        <p:spPr>
          <a:xfrm>
            <a:off x="4664486" y="1351580"/>
            <a:ext cx="3264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chemeClr val="accent1"/>
                </a:solidFill>
                <a:cs typeface="Calibri" panose="020F0502020204030204" pitchFamily="34" charset="0"/>
              </a:rPr>
              <a:t>PUBLIC HEALTH &amp;
POPULATION ANALYTICS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5E8890-2A5C-84B2-CA40-0750BE450095}"/>
              </a:ext>
            </a:extLst>
          </p:cNvPr>
          <p:cNvSpPr txBox="1"/>
          <p:nvPr/>
        </p:nvSpPr>
        <p:spPr>
          <a:xfrm>
            <a:off x="4371878" y="1827068"/>
            <a:ext cx="3538728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Predict disease outbreaks &amp; track spread</a:t>
            </a:r>
          </a:p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Monitor population health trends</a:t>
            </a:r>
          </a:p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Identify health risks &amp; target interventions</a:t>
            </a:r>
          </a:p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Detect disparities &amp; improve health equity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5F2CB5-6375-9F90-EF85-2B5B386050D3}"/>
              </a:ext>
            </a:extLst>
          </p:cNvPr>
          <p:cNvSpPr/>
          <p:nvPr/>
        </p:nvSpPr>
        <p:spPr>
          <a:xfrm>
            <a:off x="8111773" y="1278428"/>
            <a:ext cx="3813048" cy="2029968"/>
          </a:xfrm>
          <a:prstGeom prst="rect">
            <a:avLst/>
          </a:prstGeom>
          <a:solidFill>
            <a:schemeClr val="accent1">
              <a:alpha val="13625"/>
            </a:schemeClr>
          </a:solidFill>
          <a:ln w="6350">
            <a:solidFill>
              <a:srgbClr val="DD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3CA19AF-DA2D-90B0-51F5-C8762EBDF488}"/>
              </a:ext>
            </a:extLst>
          </p:cNvPr>
          <p:cNvSpPr/>
          <p:nvPr/>
        </p:nvSpPr>
        <p:spPr>
          <a:xfrm>
            <a:off x="8221501" y="1369868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56CC80-33C1-28E3-1ED7-7CFC17B8B0B3}"/>
              </a:ext>
            </a:extLst>
          </p:cNvPr>
          <p:cNvSpPr txBox="1"/>
          <p:nvPr/>
        </p:nvSpPr>
        <p:spPr>
          <a:xfrm>
            <a:off x="8587261" y="1351580"/>
            <a:ext cx="3264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chemeClr val="accent1"/>
                </a:solidFill>
                <a:cs typeface="Calibri" panose="020F0502020204030204" pitchFamily="34" charset="0"/>
              </a:rPr>
              <a:t>HEALTHCARE OPERATIONS &amp;
SYSTEM EFFICIENCY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EF849C-1A72-84E1-D47A-A825BDFBB2C3}"/>
              </a:ext>
            </a:extLst>
          </p:cNvPr>
          <p:cNvSpPr txBox="1"/>
          <p:nvPr/>
        </p:nvSpPr>
        <p:spPr>
          <a:xfrm>
            <a:off x="8294653" y="1827068"/>
            <a:ext cx="3538728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Forecast hospital demand (beds, ICU, staff)</a:t>
            </a:r>
          </a:p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Optimize resources &amp; reduce bottlenecks</a:t>
            </a:r>
          </a:p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Improve emergency response &amp; ambulance demand</a:t>
            </a:r>
          </a:p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Automate billing, coding &amp; workflows</a:t>
            </a:r>
          </a:p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Detect fraud in claims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50E7FF-3C9A-CD42-0C17-535215929F70}"/>
              </a:ext>
            </a:extLst>
          </p:cNvPr>
          <p:cNvSpPr/>
          <p:nvPr/>
        </p:nvSpPr>
        <p:spPr>
          <a:xfrm>
            <a:off x="266222" y="3354116"/>
            <a:ext cx="3813048" cy="2029968"/>
          </a:xfrm>
          <a:prstGeom prst="rect">
            <a:avLst/>
          </a:prstGeom>
          <a:solidFill>
            <a:schemeClr val="accent1">
              <a:alpha val="13625"/>
            </a:schemeClr>
          </a:solidFill>
          <a:ln w="6350">
            <a:solidFill>
              <a:srgbClr val="DD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60E59C0-B9BD-E914-8CFC-7A67FA0A2A10}"/>
              </a:ext>
            </a:extLst>
          </p:cNvPr>
          <p:cNvSpPr/>
          <p:nvPr/>
        </p:nvSpPr>
        <p:spPr>
          <a:xfrm>
            <a:off x="375950" y="3445556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77663E-7FFC-CD42-6D26-2F314B115E1B}"/>
              </a:ext>
            </a:extLst>
          </p:cNvPr>
          <p:cNvSpPr txBox="1"/>
          <p:nvPr/>
        </p:nvSpPr>
        <p:spPr>
          <a:xfrm>
            <a:off x="741710" y="3427268"/>
            <a:ext cx="3264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chemeClr val="accent1"/>
                </a:solidFill>
                <a:cs typeface="Calibri" panose="020F0502020204030204" pitchFamily="34" charset="0"/>
              </a:rPr>
              <a:t>CLINICAL DATA &amp; PATIENT
RECORDS (NLP)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10412B-7F41-1806-5B47-F8B4458E514B}"/>
              </a:ext>
            </a:extLst>
          </p:cNvPr>
          <p:cNvSpPr txBox="1"/>
          <p:nvPr/>
        </p:nvSpPr>
        <p:spPr>
          <a:xfrm>
            <a:off x="449102" y="3902756"/>
            <a:ext cx="3538728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buChar char="•"/>
            </a:pPr>
            <a:r>
              <a:rPr sz="1400" dirty="0">
                <a:solidFill>
                  <a:srgbClr val="555555"/>
                </a:solidFill>
                <a:cs typeface="Calibri" panose="020F0502020204030204" pitchFamily="34" charset="0"/>
              </a:rPr>
              <a:t>Extract insights from doctor notes &amp; patient charts</a:t>
            </a:r>
          </a:p>
          <a:p>
            <a:pPr>
              <a:spcBef>
                <a:spcPts val="150"/>
              </a:spcBef>
              <a:buChar char="•"/>
            </a:pPr>
            <a:r>
              <a:rPr sz="1400" dirty="0">
                <a:solidFill>
                  <a:srgbClr val="555555"/>
                </a:solidFill>
                <a:cs typeface="Calibri" panose="020F0502020204030204" pitchFamily="34" charset="0"/>
              </a:rPr>
              <a:t>Automate documentation &amp; reduce clinician burden</a:t>
            </a:r>
          </a:p>
          <a:p>
            <a:pPr>
              <a:spcBef>
                <a:spcPts val="150"/>
              </a:spcBef>
              <a:buChar char="•"/>
            </a:pPr>
            <a:r>
              <a:rPr sz="1400" dirty="0">
                <a:solidFill>
                  <a:srgbClr val="555555"/>
                </a:solidFill>
                <a:cs typeface="Calibri" panose="020F0502020204030204" pitchFamily="34" charset="0"/>
              </a:rPr>
              <a:t>Enable faster, better decisions from unstructured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7B9DCE-CAE2-FCD0-7C14-92BA9F5F5816}"/>
              </a:ext>
            </a:extLst>
          </p:cNvPr>
          <p:cNvSpPr/>
          <p:nvPr/>
        </p:nvSpPr>
        <p:spPr>
          <a:xfrm>
            <a:off x="4188998" y="3354116"/>
            <a:ext cx="3813048" cy="2029968"/>
          </a:xfrm>
          <a:prstGeom prst="rect">
            <a:avLst/>
          </a:prstGeom>
          <a:solidFill>
            <a:schemeClr val="accent1">
              <a:alpha val="13625"/>
            </a:schemeClr>
          </a:solidFill>
          <a:ln w="6350">
            <a:solidFill>
              <a:srgbClr val="DD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763F6A5-0E75-96D2-79FA-D1957A05B139}"/>
              </a:ext>
            </a:extLst>
          </p:cNvPr>
          <p:cNvSpPr/>
          <p:nvPr/>
        </p:nvSpPr>
        <p:spPr>
          <a:xfrm>
            <a:off x="4298726" y="3445556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B6D6C4-40E1-90BA-B76A-94B36F7B60ED}"/>
              </a:ext>
            </a:extLst>
          </p:cNvPr>
          <p:cNvSpPr txBox="1"/>
          <p:nvPr/>
        </p:nvSpPr>
        <p:spPr>
          <a:xfrm>
            <a:off x="4664486" y="3427268"/>
            <a:ext cx="3264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chemeClr val="accent1"/>
                </a:solidFill>
                <a:cs typeface="Calibri" panose="020F0502020204030204" pitchFamily="34" charset="0"/>
              </a:rPr>
              <a:t>DRUG DISCOVERY &amp;
RESEARCH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802930-4F77-06D5-1248-C3568022C98A}"/>
              </a:ext>
            </a:extLst>
          </p:cNvPr>
          <p:cNvSpPr txBox="1"/>
          <p:nvPr/>
        </p:nvSpPr>
        <p:spPr>
          <a:xfrm>
            <a:off x="4371878" y="3902756"/>
            <a:ext cx="3538728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Identify new compounds &amp; drug targets</a:t>
            </a:r>
          </a:p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Predict clinical trial success &amp; optimize trial design</a:t>
            </a:r>
          </a:p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Accelerate research &amp; reduce time to treatment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8B1CE2-D4E8-601B-DA4F-8C2A715A7532}"/>
              </a:ext>
            </a:extLst>
          </p:cNvPr>
          <p:cNvSpPr/>
          <p:nvPr/>
        </p:nvSpPr>
        <p:spPr>
          <a:xfrm>
            <a:off x="8111773" y="3354116"/>
            <a:ext cx="3813048" cy="2029968"/>
          </a:xfrm>
          <a:prstGeom prst="rect">
            <a:avLst/>
          </a:prstGeom>
          <a:solidFill>
            <a:schemeClr val="accent1">
              <a:alpha val="13625"/>
            </a:schemeClr>
          </a:solidFill>
          <a:ln w="6350">
            <a:solidFill>
              <a:srgbClr val="DD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0D6AA56-CB31-B866-E35C-0AD12F09BFD7}"/>
              </a:ext>
            </a:extLst>
          </p:cNvPr>
          <p:cNvSpPr/>
          <p:nvPr/>
        </p:nvSpPr>
        <p:spPr>
          <a:xfrm>
            <a:off x="8221501" y="3445556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A7630A-DD4E-87E2-B597-1B381FD32DFF}"/>
              </a:ext>
            </a:extLst>
          </p:cNvPr>
          <p:cNvSpPr txBox="1"/>
          <p:nvPr/>
        </p:nvSpPr>
        <p:spPr>
          <a:xfrm>
            <a:off x="8587261" y="3427268"/>
            <a:ext cx="3264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chemeClr val="accent1"/>
                </a:solidFill>
                <a:cs typeface="Calibri" panose="020F0502020204030204" pitchFamily="34" charset="0"/>
              </a:rPr>
              <a:t>GENOMICS &amp;
PRECISION HEALTH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438ABF-1C92-9A35-A446-062C43BE048B}"/>
              </a:ext>
            </a:extLst>
          </p:cNvPr>
          <p:cNvSpPr txBox="1"/>
          <p:nvPr/>
        </p:nvSpPr>
        <p:spPr>
          <a:xfrm>
            <a:off x="8294653" y="3902756"/>
            <a:ext cx="3538728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Analyze DNA to predict disease risk</a:t>
            </a:r>
          </a:p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Match patients to targeted therapies</a:t>
            </a:r>
          </a:p>
          <a:p>
            <a:pPr>
              <a:spcBef>
                <a:spcPts val="150"/>
              </a:spcBef>
              <a:buChar char="•"/>
            </a:pPr>
            <a:r>
              <a:rPr sz="1400">
                <a:solidFill>
                  <a:srgbClr val="555555"/>
                </a:solidFill>
                <a:cs typeface="Calibri" panose="020F0502020204030204" pitchFamily="34" charset="0"/>
              </a:rPr>
              <a:t>Support early detection of complex conditions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4D8DB1-5387-0183-7B26-05FF711BE02E}"/>
              </a:ext>
            </a:extLst>
          </p:cNvPr>
          <p:cNvSpPr txBox="1"/>
          <p:nvPr/>
        </p:nvSpPr>
        <p:spPr>
          <a:xfrm>
            <a:off x="269348" y="5649597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chemeClr val="accent1"/>
                </a:solidFill>
                <a:cs typeface="Calibri" panose="020F0502020204030204" pitchFamily="34" charset="0"/>
              </a:rPr>
              <a:t>VIRTUAL CARE &amp; REMOTE MONITORING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B7360B-7814-0661-8977-02117FA5DA37}"/>
              </a:ext>
            </a:extLst>
          </p:cNvPr>
          <p:cNvSpPr txBox="1"/>
          <p:nvPr/>
        </p:nvSpPr>
        <p:spPr>
          <a:xfrm>
            <a:off x="269348" y="5887341"/>
            <a:ext cx="1783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cs typeface="Calibri" panose="020F0502020204030204" pitchFamily="34" charset="0"/>
              </a:rPr>
              <a:t>AI triage tools &amp; virtual assistants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7B2D44-D96D-BBE0-D6BC-64A2BBBB15B6}"/>
              </a:ext>
            </a:extLst>
          </p:cNvPr>
          <p:cNvSpPr txBox="1"/>
          <p:nvPr/>
        </p:nvSpPr>
        <p:spPr>
          <a:xfrm>
            <a:off x="2116436" y="5887341"/>
            <a:ext cx="1783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cs typeface="Calibri" panose="020F0502020204030204" pitchFamily="34" charset="0"/>
              </a:rPr>
              <a:t>Wearables &amp; real-time health monitoring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F7FB7D-9908-12B7-2CC2-DE42C606DB72}"/>
              </a:ext>
            </a:extLst>
          </p:cNvPr>
          <p:cNvSpPr txBox="1"/>
          <p:nvPr/>
        </p:nvSpPr>
        <p:spPr>
          <a:xfrm>
            <a:off x="3963524" y="5887341"/>
            <a:ext cx="1783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cs typeface="Calibri" panose="020F0502020204030204" pitchFamily="34" charset="0"/>
              </a:rPr>
              <a:t>Early alerts for deterioration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C00EC5-0969-BC9B-F4F6-A944A1E1CCB2}"/>
              </a:ext>
            </a:extLst>
          </p:cNvPr>
          <p:cNvSpPr txBox="1"/>
          <p:nvPr/>
        </p:nvSpPr>
        <p:spPr>
          <a:xfrm>
            <a:off x="5861706" y="5645424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chemeClr val="accent1"/>
                </a:solidFill>
                <a:cs typeface="Calibri" panose="020F0502020204030204" pitchFamily="34" charset="0"/>
              </a:rPr>
              <a:t>THE FUTURE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6F0310-2BDF-A025-DA64-C70D0E9C8F7B}"/>
              </a:ext>
            </a:extLst>
          </p:cNvPr>
          <p:cNvSpPr txBox="1"/>
          <p:nvPr/>
        </p:nvSpPr>
        <p:spPr>
          <a:xfrm>
            <a:off x="5897881" y="5887341"/>
            <a:ext cx="1463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cs typeface="Calibri" panose="020F0502020204030204" pitchFamily="34" charset="0"/>
              </a:rPr>
              <a:t>From reactive to predictive &amp; preventative care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DE7540-0718-25A7-1852-88CF2C3333E2}"/>
              </a:ext>
            </a:extLst>
          </p:cNvPr>
          <p:cNvSpPr txBox="1"/>
          <p:nvPr/>
        </p:nvSpPr>
        <p:spPr>
          <a:xfrm>
            <a:off x="7406641" y="5887341"/>
            <a:ext cx="1463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cs typeface="Calibri" panose="020F0502020204030204" pitchFamily="34" charset="0"/>
              </a:rPr>
              <a:t>Integration of real-time data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C65B2E-A5D7-9A4C-7191-8B108BA7CA13}"/>
              </a:ext>
            </a:extLst>
          </p:cNvPr>
          <p:cNvSpPr txBox="1"/>
          <p:nvPr/>
        </p:nvSpPr>
        <p:spPr>
          <a:xfrm>
            <a:off x="8915401" y="5887341"/>
            <a:ext cx="1463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cs typeface="Calibri" panose="020F0502020204030204" pitchFamily="34" charset="0"/>
              </a:rPr>
              <a:t>Data-driven decisions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B85A42-0DA2-9D01-5378-39134C741B30}"/>
              </a:ext>
            </a:extLst>
          </p:cNvPr>
          <p:cNvSpPr txBox="1"/>
          <p:nvPr/>
        </p:nvSpPr>
        <p:spPr>
          <a:xfrm>
            <a:off x="10306090" y="5826276"/>
            <a:ext cx="1767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cs typeface="Calibri" panose="020F0502020204030204" pitchFamily="34" charset="0"/>
              </a:rPr>
              <a:t>More equitable, efficient &amp; resilient healthcare systems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FEC847-C0BA-A8EB-6C31-D4304BB0D837}"/>
              </a:ext>
            </a:extLst>
          </p:cNvPr>
          <p:cNvSpPr/>
          <p:nvPr/>
        </p:nvSpPr>
        <p:spPr>
          <a:xfrm>
            <a:off x="0" y="1226477"/>
            <a:ext cx="12192000" cy="5631523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60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4CAA7-8600-FB7C-10FF-888DA054F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6D665-4655-4A5C-20BC-D19724EB10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CFA0F11A-6651-46F3-8E1F-FCEF705042BA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662F43F-5F79-378A-DAC2-3C89405BE1E3}"/>
              </a:ext>
            </a:extLst>
          </p:cNvPr>
          <p:cNvSpPr txBox="1">
            <a:spLocks/>
          </p:cNvSpPr>
          <p:nvPr/>
        </p:nvSpPr>
        <p:spPr>
          <a:xfrm>
            <a:off x="118872" y="334315"/>
            <a:ext cx="10515599" cy="904444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4800" dirty="0">
                <a:solidFill>
                  <a:schemeClr val="accent1"/>
                </a:solidFill>
              </a:rPr>
              <a:t>A live COVID outbreak demo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1A695684-5640-3D79-04A0-F38D660AA506}"/>
              </a:ext>
            </a:extLst>
          </p:cNvPr>
          <p:cNvSpPr/>
          <p:nvPr/>
        </p:nvSpPr>
        <p:spPr>
          <a:xfrm>
            <a:off x="118871" y="1238758"/>
            <a:ext cx="9997401" cy="4791651"/>
          </a:xfrm>
          <a:prstGeom prst="rect">
            <a:avLst/>
          </a:prstGeom>
          <a:solidFill>
            <a:schemeClr val="accent1">
              <a:alpha val="13979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95CD18-308C-0EE7-3DF6-1E30EE5FED31}"/>
              </a:ext>
            </a:extLst>
          </p:cNvPr>
          <p:cNvSpPr/>
          <p:nvPr/>
        </p:nvSpPr>
        <p:spPr>
          <a:xfrm>
            <a:off x="118870" y="1238758"/>
            <a:ext cx="9997401" cy="4791652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 descr="QR Code Image">
            <a:extLst>
              <a:ext uri="{FF2B5EF4-FFF2-40B4-BE49-F238E27FC236}">
                <a16:creationId xmlns:a16="http://schemas.microsoft.com/office/drawing/2014/main" id="{50BB70E2-5A21-1B83-8161-288B1BC5D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67" y="1314294"/>
            <a:ext cx="2156400" cy="215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0430F8-8373-980D-135F-9B51BB1C8706}"/>
              </a:ext>
            </a:extLst>
          </p:cNvPr>
          <p:cNvSpPr txBox="1"/>
          <p:nvPr/>
        </p:nvSpPr>
        <p:spPr>
          <a:xfrm>
            <a:off x="2885440" y="1591733"/>
            <a:ext cx="61095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Scan here to begin voting</a:t>
            </a:r>
          </a:p>
          <a:p>
            <a:endParaRPr lang="en-CA" dirty="0"/>
          </a:p>
          <a:p>
            <a:r>
              <a:rPr lang="en-CA" dirty="0"/>
              <a:t>The dashboard itself is available </a:t>
            </a:r>
            <a:r>
              <a:rPr lang="en-CA"/>
              <a:t>on </a:t>
            </a:r>
            <a:r>
              <a:rPr lang="en-CA">
                <a:hlinkClick r:id="rId4"/>
              </a:rPr>
              <a:t>https://afrazdiseasedashboard.streamlit.app/</a:t>
            </a:r>
            <a:endParaRPr lang="en-CA"/>
          </a:p>
          <a:p>
            <a:endParaRPr lang="en-CA" dirty="0"/>
          </a:p>
          <a:p>
            <a:r>
              <a:rPr lang="en-CA" dirty="0"/>
              <a:t>Note: The voting page and the dashboard page are different</a:t>
            </a:r>
          </a:p>
        </p:txBody>
      </p:sp>
    </p:spTree>
    <p:extLst>
      <p:ext uri="{BB962C8B-B14F-4D97-AF65-F5344CB8AC3E}">
        <p14:creationId xmlns:p14="http://schemas.microsoft.com/office/powerpoint/2010/main" val="3161777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C859-5A88-CA98-7FD9-7F93CABD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C3CEA9-C839-252B-D557-5CA34176B5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8872" y="334315"/>
            <a:ext cx="10515599" cy="904444"/>
          </a:xfrm>
        </p:spPr>
        <p:txBody>
          <a:bodyPr>
            <a:normAutofit/>
          </a:bodyPr>
          <a:lstStyle/>
          <a:p>
            <a:r>
              <a:rPr lang="en-CA" dirty="0"/>
              <a:t>A Day in the Life of a Data Scientist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DB28CA-4DEF-E6B9-BC1A-CF8103B8C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040438"/>
            <a:ext cx="15684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183BD073-4FB3-8338-3387-15BA3CAAE734}"/>
              </a:ext>
            </a:extLst>
          </p:cNvPr>
          <p:cNvSpPr/>
          <p:nvPr/>
        </p:nvSpPr>
        <p:spPr>
          <a:xfrm>
            <a:off x="813816" y="1847088"/>
            <a:ext cx="18288" cy="2560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CA" sz="1600">
              <a:solidFill>
                <a:schemeClr val="accent1"/>
              </a:solidFill>
              <a:cs typeface="Calibri" panose="020F0502020204030204" pitchFamily="34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1A1AF1E-7E2B-940D-7D36-B4571436E516}"/>
              </a:ext>
            </a:extLst>
          </p:cNvPr>
          <p:cNvSpPr/>
          <p:nvPr/>
        </p:nvSpPr>
        <p:spPr>
          <a:xfrm>
            <a:off x="658368" y="13898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CA" sz="1600">
              <a:solidFill>
                <a:schemeClr val="accent1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684CF7FA-646A-4220-6FD8-47857BC87E48}"/>
              </a:ext>
            </a:extLst>
          </p:cNvPr>
          <p:cNvSpPr/>
          <p:nvPr/>
        </p:nvSpPr>
        <p:spPr>
          <a:xfrm>
            <a:off x="1143000" y="1335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ea typeface="Trebuchet MS" pitchFamily="34" charset="-122"/>
                <a:cs typeface="Calibri" panose="020F0502020204030204" pitchFamily="34" charset="0"/>
              </a:rPr>
              <a:t>Morning</a:t>
            </a:r>
            <a:endParaRPr lang="en-US" sz="1600" dirty="0">
              <a:solidFill>
                <a:schemeClr val="accent1"/>
              </a:solidFill>
              <a:cs typeface="Calibri" panose="020F0502020204030204" pitchFamily="34" charset="0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F3B97638-6349-C63C-0D8C-003672E22C05}"/>
              </a:ext>
            </a:extLst>
          </p:cNvPr>
          <p:cNvSpPr/>
          <p:nvPr/>
        </p:nvSpPr>
        <p:spPr>
          <a:xfrm>
            <a:off x="1143000" y="1591056"/>
            <a:ext cx="7278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Review incoming data — check quality, flag anomalies, understand what changed overnight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25F382AC-2ACC-2CF9-E3D4-B28B8CC99796}"/>
              </a:ext>
            </a:extLst>
          </p:cNvPr>
          <p:cNvSpPr/>
          <p:nvPr/>
        </p:nvSpPr>
        <p:spPr>
          <a:xfrm>
            <a:off x="813816" y="2761488"/>
            <a:ext cx="18288" cy="2560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CA" sz="1600">
              <a:solidFill>
                <a:schemeClr val="accent1"/>
              </a:solidFill>
              <a:cs typeface="Calibri" panose="020F0502020204030204" pitchFamily="34" charset="0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7AED72C8-D2E2-CC75-4B41-6190CCFB322A}"/>
              </a:ext>
            </a:extLst>
          </p:cNvPr>
          <p:cNvSpPr/>
          <p:nvPr/>
        </p:nvSpPr>
        <p:spPr>
          <a:xfrm>
            <a:off x="658368" y="23042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CA" sz="1600">
              <a:solidFill>
                <a:schemeClr val="accent1"/>
              </a:solidFill>
              <a:cs typeface="Calibri" panose="020F0502020204030204" pitchFamily="34" charset="0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43106603-AA93-D320-B629-383B4D50B76A}"/>
              </a:ext>
            </a:extLst>
          </p:cNvPr>
          <p:cNvSpPr/>
          <p:nvPr/>
        </p:nvSpPr>
        <p:spPr>
          <a:xfrm>
            <a:off x="1143000" y="2249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ea typeface="Trebuchet MS" pitchFamily="34" charset="-122"/>
                <a:cs typeface="Calibri" panose="020F0502020204030204" pitchFamily="34" charset="0"/>
              </a:rPr>
              <a:t>Mid-Morning</a:t>
            </a:r>
            <a:endParaRPr lang="en-US" sz="1600" dirty="0">
              <a:solidFill>
                <a:schemeClr val="accent1"/>
              </a:solidFill>
              <a:cs typeface="Calibri" panose="020F0502020204030204" pitchFamily="34" charset="0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536D6630-09CF-9587-34D8-A5272F0335AE}"/>
              </a:ext>
            </a:extLst>
          </p:cNvPr>
          <p:cNvSpPr/>
          <p:nvPr/>
        </p:nvSpPr>
        <p:spPr>
          <a:xfrm>
            <a:off x="1143000" y="2505456"/>
            <a:ext cx="7278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Explore the data — ask questions, build visualisations, look for patterns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7183A42E-C4E1-B74F-BCD0-5EBED813D3DC}"/>
              </a:ext>
            </a:extLst>
          </p:cNvPr>
          <p:cNvSpPr/>
          <p:nvPr/>
        </p:nvSpPr>
        <p:spPr>
          <a:xfrm>
            <a:off x="1143000" y="2926080"/>
            <a:ext cx="7315200" cy="9144"/>
          </a:xfrm>
          <a:prstGeom prst="rect">
            <a:avLst/>
          </a:prstGeom>
          <a:solidFill>
            <a:srgbClr val="E0ECEE"/>
          </a:solidFill>
          <a:ln w="12700">
            <a:solidFill>
              <a:srgbClr val="E0ECEE"/>
            </a:solidFill>
            <a:prstDash val="solid"/>
          </a:ln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B429E15F-0517-3437-4D15-2F2053A49EC9}"/>
              </a:ext>
            </a:extLst>
          </p:cNvPr>
          <p:cNvSpPr/>
          <p:nvPr/>
        </p:nvSpPr>
        <p:spPr>
          <a:xfrm>
            <a:off x="813816" y="3675888"/>
            <a:ext cx="18288" cy="2560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CA" sz="1600">
              <a:solidFill>
                <a:schemeClr val="accent1"/>
              </a:solidFill>
              <a:cs typeface="Calibri" panose="020F0502020204030204" pitchFamily="34" charset="0"/>
            </a:endParaRPr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5EDF681B-9875-2DE3-C9C9-0849CE5111DE}"/>
              </a:ext>
            </a:extLst>
          </p:cNvPr>
          <p:cNvSpPr/>
          <p:nvPr/>
        </p:nvSpPr>
        <p:spPr>
          <a:xfrm>
            <a:off x="658368" y="32186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CA" sz="1600">
              <a:solidFill>
                <a:schemeClr val="accent1"/>
              </a:solidFill>
              <a:cs typeface="Calibri" panose="020F0502020204030204" pitchFamily="34" charset="0"/>
            </a:endParaRP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47C73BA5-F6F8-4153-1A48-B0BDFD93B3E0}"/>
              </a:ext>
            </a:extLst>
          </p:cNvPr>
          <p:cNvSpPr/>
          <p:nvPr/>
        </p:nvSpPr>
        <p:spPr>
          <a:xfrm>
            <a:off x="1143000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ea typeface="Trebuchet MS" pitchFamily="34" charset="-122"/>
                <a:cs typeface="Calibri" panose="020F0502020204030204" pitchFamily="34" charset="0"/>
              </a:rPr>
              <a:t>Afternoon</a:t>
            </a:r>
            <a:endParaRPr lang="en-US" sz="1600" dirty="0">
              <a:solidFill>
                <a:schemeClr val="accent1"/>
              </a:solidFill>
              <a:cs typeface="Calibri" panose="020F0502020204030204" pitchFamily="34" charset="0"/>
            </a:endParaRPr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56CD055F-A394-6839-7670-AAEA0C6CE9E6}"/>
              </a:ext>
            </a:extLst>
          </p:cNvPr>
          <p:cNvSpPr/>
          <p:nvPr/>
        </p:nvSpPr>
        <p:spPr>
          <a:xfrm>
            <a:off x="1143000" y="3419856"/>
            <a:ext cx="7278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Build or refine models — write Python code, train algorithms, evaluate predictions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19" name="Shape 22">
            <a:extLst>
              <a:ext uri="{FF2B5EF4-FFF2-40B4-BE49-F238E27FC236}">
                <a16:creationId xmlns:a16="http://schemas.microsoft.com/office/drawing/2014/main" id="{C013490E-5697-F329-A45F-9B409F180764}"/>
              </a:ext>
            </a:extLst>
          </p:cNvPr>
          <p:cNvSpPr/>
          <p:nvPr/>
        </p:nvSpPr>
        <p:spPr>
          <a:xfrm>
            <a:off x="658368" y="41330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CA" sz="1600">
              <a:solidFill>
                <a:schemeClr val="accent1"/>
              </a:solidFill>
              <a:cs typeface="Calibri" panose="020F0502020204030204" pitchFamily="34" charset="0"/>
            </a:endParaRPr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11FA01BE-26BE-3F71-5E78-F4039BCEBE0A}"/>
              </a:ext>
            </a:extLst>
          </p:cNvPr>
          <p:cNvSpPr/>
          <p:nvPr/>
        </p:nvSpPr>
        <p:spPr>
          <a:xfrm>
            <a:off x="1143000" y="4078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ea typeface="Trebuchet MS" pitchFamily="34" charset="-122"/>
                <a:cs typeface="Calibri" panose="020F0502020204030204" pitchFamily="34" charset="0"/>
              </a:rPr>
              <a:t>Late Afternoon</a:t>
            </a:r>
            <a:endParaRPr lang="en-US" sz="1600" dirty="0">
              <a:solidFill>
                <a:schemeClr val="accent1"/>
              </a:solidFill>
              <a:cs typeface="Calibri" panose="020F0502020204030204" pitchFamily="34" charset="0"/>
            </a:endParaRPr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2D5822FF-F0E2-A299-6FDD-2AF1E8525996}"/>
              </a:ext>
            </a:extLst>
          </p:cNvPr>
          <p:cNvSpPr/>
          <p:nvPr/>
        </p:nvSpPr>
        <p:spPr>
          <a:xfrm>
            <a:off x="1143000" y="4334256"/>
            <a:ext cx="7278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Present findings — show results to health officers, policymakers and stakeholders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24" name="Shape 26">
            <a:extLst>
              <a:ext uri="{FF2B5EF4-FFF2-40B4-BE49-F238E27FC236}">
                <a16:creationId xmlns:a16="http://schemas.microsoft.com/office/drawing/2014/main" id="{03C3A51C-D4A4-C3F2-A857-563FC715E30B}"/>
              </a:ext>
            </a:extLst>
          </p:cNvPr>
          <p:cNvSpPr/>
          <p:nvPr/>
        </p:nvSpPr>
        <p:spPr>
          <a:xfrm>
            <a:off x="1143000" y="4754880"/>
            <a:ext cx="7315200" cy="9144"/>
          </a:xfrm>
          <a:prstGeom prst="rect">
            <a:avLst/>
          </a:prstGeom>
          <a:solidFill>
            <a:srgbClr val="E0ECEE"/>
          </a:solidFill>
          <a:ln w="12700">
            <a:solidFill>
              <a:srgbClr val="E0ECEE"/>
            </a:solidFill>
            <a:prstDash val="solid"/>
          </a:ln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6B3FBA99-E8AA-4C08-BA1F-7EE9BE71918B}"/>
              </a:ext>
            </a:extLst>
          </p:cNvPr>
          <p:cNvSpPr/>
          <p:nvPr/>
        </p:nvSpPr>
        <p:spPr>
          <a:xfrm>
            <a:off x="8732520" y="1305179"/>
            <a:ext cx="3108960" cy="777240"/>
          </a:xfrm>
          <a:prstGeom prst="rect">
            <a:avLst/>
          </a:prstGeom>
          <a:solidFill>
            <a:schemeClr val="accent1">
              <a:alpha val="15000"/>
            </a:schemeClr>
          </a:solidFill>
          <a:ln w="12700">
            <a:solidFill>
              <a:srgbClr val="E0ECEE"/>
            </a:solidFill>
            <a:prstDash val="soli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772392A-27FE-C6B1-D9D9-D3E3177B6949}"/>
              </a:ext>
            </a:extLst>
          </p:cNvPr>
          <p:cNvSpPr/>
          <p:nvPr/>
        </p:nvSpPr>
        <p:spPr>
          <a:xfrm>
            <a:off x="8869680" y="1414907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Average DS salary in Canada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84C04F5-B7B0-5852-68D6-58549DB511BC}"/>
              </a:ext>
            </a:extLst>
          </p:cNvPr>
          <p:cNvSpPr/>
          <p:nvPr/>
        </p:nvSpPr>
        <p:spPr>
          <a:xfrm>
            <a:off x="8869680" y="1643507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$90,000 – $160,000 / year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E3DED3-9440-F09B-4572-466FF976E985}"/>
              </a:ext>
            </a:extLst>
          </p:cNvPr>
          <p:cNvSpPr/>
          <p:nvPr/>
        </p:nvSpPr>
        <p:spPr>
          <a:xfrm>
            <a:off x="0" y="1226477"/>
            <a:ext cx="12192000" cy="5631523"/>
          </a:xfrm>
          <a:prstGeom prst="rect">
            <a:avLst/>
          </a:prstGeom>
          <a:blipFill dpi="0" rotWithShape="1">
            <a:blip r:embed="rId4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09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5DFD9-1DFF-5153-9D80-993B32613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DD4BD4-5D1C-8843-47FE-61B5C2F4B4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8872" y="334315"/>
            <a:ext cx="10515599" cy="904444"/>
          </a:xfrm>
        </p:spPr>
        <p:txBody>
          <a:bodyPr>
            <a:normAutofit/>
          </a:bodyPr>
          <a:lstStyle/>
          <a:p>
            <a:r>
              <a:rPr lang="en-CA" dirty="0"/>
              <a:t>How Can YOU Get Started?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35F2BE-421E-D484-C9E8-02293E707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040438"/>
            <a:ext cx="15684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C8392708-7149-3A23-3C78-71C302596600}"/>
              </a:ext>
            </a:extLst>
          </p:cNvPr>
          <p:cNvSpPr/>
          <p:nvPr/>
        </p:nvSpPr>
        <p:spPr>
          <a:xfrm>
            <a:off x="505234" y="15359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4E38A38D-7731-1FA7-6B05-EC64D4F849D0}"/>
              </a:ext>
            </a:extLst>
          </p:cNvPr>
          <p:cNvSpPr/>
          <p:nvPr/>
        </p:nvSpPr>
        <p:spPr>
          <a:xfrm>
            <a:off x="642394" y="176456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061625EE-342E-0358-E2C2-331439865CFD}"/>
              </a:ext>
            </a:extLst>
          </p:cNvPr>
          <p:cNvSpPr/>
          <p:nvPr/>
        </p:nvSpPr>
        <p:spPr>
          <a:xfrm>
            <a:off x="642394" y="1764560"/>
            <a:ext cx="438912" cy="438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Calibri" panose="020F0502020204030204" pitchFamily="34" charset="0"/>
              </a:rPr>
              <a:t>01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B6BB8FDA-47A9-182A-EF59-C2CB44D84A89}"/>
              </a:ext>
            </a:extLst>
          </p:cNvPr>
          <p:cNvSpPr/>
          <p:nvPr/>
        </p:nvSpPr>
        <p:spPr>
          <a:xfrm>
            <a:off x="1191034" y="1645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B"/>
                </a:solidFill>
                <a:ea typeface="Trebuchet MS" pitchFamily="34" charset="-122"/>
                <a:cs typeface="Calibri" panose="020F0502020204030204" pitchFamily="34" charset="0"/>
              </a:rPr>
              <a:t>Improve Python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CF812BAC-D59D-93BD-0F03-974E7E0E87F5}"/>
              </a:ext>
            </a:extLst>
          </p:cNvPr>
          <p:cNvSpPr/>
          <p:nvPr/>
        </p:nvSpPr>
        <p:spPr>
          <a:xfrm>
            <a:off x="1191034" y="19474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Khan Academy, Codecademy, YouTube- further help improve- practice!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A49C5E49-B61F-D778-3DD6-85F2FFE8E532}"/>
              </a:ext>
            </a:extLst>
          </p:cNvPr>
          <p:cNvSpPr/>
          <p:nvPr/>
        </p:nvSpPr>
        <p:spPr>
          <a:xfrm>
            <a:off x="6428231" y="15359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7E1C30BB-84D0-DE52-6C92-560B418E1DE9}"/>
              </a:ext>
            </a:extLst>
          </p:cNvPr>
          <p:cNvSpPr/>
          <p:nvPr/>
        </p:nvSpPr>
        <p:spPr>
          <a:xfrm>
            <a:off x="6565391" y="176456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B09DFEC8-CA7E-2FA3-055E-17254A80A7EC}"/>
              </a:ext>
            </a:extLst>
          </p:cNvPr>
          <p:cNvSpPr/>
          <p:nvPr/>
        </p:nvSpPr>
        <p:spPr>
          <a:xfrm>
            <a:off x="6565391" y="1764560"/>
            <a:ext cx="438912" cy="438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Calibri" panose="020F0502020204030204" pitchFamily="34" charset="0"/>
              </a:rPr>
              <a:t>02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9BB6D1D9-E482-7C09-1509-BE5C32CF4CD1}"/>
              </a:ext>
            </a:extLst>
          </p:cNvPr>
          <p:cNvSpPr/>
          <p:nvPr/>
        </p:nvSpPr>
        <p:spPr>
          <a:xfrm>
            <a:off x="7114031" y="1645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B"/>
                </a:solidFill>
                <a:ea typeface="Trebuchet MS" pitchFamily="34" charset="-122"/>
                <a:cs typeface="Calibri" panose="020F0502020204030204" pitchFamily="34" charset="0"/>
              </a:rPr>
              <a:t>Play with Data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E66D3224-67C2-1EF5-8FD2-3253C48E643C}"/>
              </a:ext>
            </a:extLst>
          </p:cNvPr>
          <p:cNvSpPr/>
          <p:nvPr/>
        </p:nvSpPr>
        <p:spPr>
          <a:xfrm>
            <a:off x="7114031" y="19474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Kaggle.com has free datasets &amp; beginner competitions. Explore one that interests you.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0E7A5B3B-690C-E4BC-86CF-5E5AF8DFB28B}"/>
              </a:ext>
            </a:extLst>
          </p:cNvPr>
          <p:cNvSpPr/>
          <p:nvPr/>
        </p:nvSpPr>
        <p:spPr>
          <a:xfrm>
            <a:off x="505234" y="29903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70BEC07F-5B2B-8CDC-1865-CDC1A86C7AEC}"/>
              </a:ext>
            </a:extLst>
          </p:cNvPr>
          <p:cNvSpPr/>
          <p:nvPr/>
        </p:nvSpPr>
        <p:spPr>
          <a:xfrm>
            <a:off x="642394" y="3218920"/>
            <a:ext cx="438912" cy="438912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F63D3C99-F255-205B-86A7-610430772770}"/>
              </a:ext>
            </a:extLst>
          </p:cNvPr>
          <p:cNvSpPr/>
          <p:nvPr/>
        </p:nvSpPr>
        <p:spPr>
          <a:xfrm>
            <a:off x="642394" y="321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Calibri" panose="020F0502020204030204" pitchFamily="34" charset="0"/>
              </a:rPr>
              <a:t>03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9061F62C-B604-06DA-F977-0E7DB2494B11}"/>
              </a:ext>
            </a:extLst>
          </p:cNvPr>
          <p:cNvSpPr/>
          <p:nvPr/>
        </p:nvSpPr>
        <p:spPr>
          <a:xfrm>
            <a:off x="1191034" y="31000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B"/>
                </a:solidFill>
                <a:ea typeface="Trebuchet MS" pitchFamily="34" charset="-122"/>
                <a:cs typeface="Calibri" panose="020F0502020204030204" pitchFamily="34" charset="0"/>
              </a:rPr>
              <a:t>Take a Course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4BF8C2CA-DD2B-3B58-6C9D-8D29B0138E33}"/>
              </a:ext>
            </a:extLst>
          </p:cNvPr>
          <p:cNvSpPr/>
          <p:nvPr/>
        </p:nvSpPr>
        <p:spPr>
          <a:xfrm>
            <a:off x="1191034" y="34018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Coursera, edX &amp; DataCamp offer intro data science courses - many are free to audit.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BC48E0A1-3E2A-CF4A-B366-A44FCB76A128}"/>
              </a:ext>
            </a:extLst>
          </p:cNvPr>
          <p:cNvSpPr/>
          <p:nvPr/>
        </p:nvSpPr>
        <p:spPr>
          <a:xfrm>
            <a:off x="6428231" y="29903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FF346E09-0051-3AE9-A811-8B2FC063E555}"/>
              </a:ext>
            </a:extLst>
          </p:cNvPr>
          <p:cNvSpPr/>
          <p:nvPr/>
        </p:nvSpPr>
        <p:spPr>
          <a:xfrm>
            <a:off x="6565391" y="3218920"/>
            <a:ext cx="438912" cy="438912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63D8C0E2-0727-D303-84A4-76FC9EEFDACD}"/>
              </a:ext>
            </a:extLst>
          </p:cNvPr>
          <p:cNvSpPr/>
          <p:nvPr/>
        </p:nvSpPr>
        <p:spPr>
          <a:xfrm>
            <a:off x="6565391" y="321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Calibri" panose="020F0502020204030204" pitchFamily="34" charset="0"/>
              </a:rPr>
              <a:t>04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D382D594-D20C-E86B-BC2A-FE5C5EF23FFB}"/>
              </a:ext>
            </a:extLst>
          </p:cNvPr>
          <p:cNvSpPr/>
          <p:nvPr/>
        </p:nvSpPr>
        <p:spPr>
          <a:xfrm>
            <a:off x="7114031" y="31000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B"/>
                </a:solidFill>
                <a:ea typeface="Trebuchet MS" pitchFamily="34" charset="-122"/>
                <a:cs typeface="Calibri" panose="020F0502020204030204" pitchFamily="34" charset="0"/>
              </a:rPr>
              <a:t>Build a Project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BC6A7160-0BB3-E6B8-1A91-DAA8F4EDCF4D}"/>
              </a:ext>
            </a:extLst>
          </p:cNvPr>
          <p:cNvSpPr/>
          <p:nvPr/>
        </p:nvSpPr>
        <p:spPr>
          <a:xfrm>
            <a:off x="7114031" y="34018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Analyse your own data — music taste, sports stats, video games — anything you love.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65710470-A5E6-C6CB-41A5-D2940467EAE7}"/>
              </a:ext>
            </a:extLst>
          </p:cNvPr>
          <p:cNvSpPr/>
          <p:nvPr/>
        </p:nvSpPr>
        <p:spPr>
          <a:xfrm>
            <a:off x="505234" y="451339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93738310-9A34-4EB7-98E7-6E771A46003D}"/>
              </a:ext>
            </a:extLst>
          </p:cNvPr>
          <p:cNvSpPr/>
          <p:nvPr/>
        </p:nvSpPr>
        <p:spPr>
          <a:xfrm>
            <a:off x="642394" y="474199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46" name="Text 26">
            <a:extLst>
              <a:ext uri="{FF2B5EF4-FFF2-40B4-BE49-F238E27FC236}">
                <a16:creationId xmlns:a16="http://schemas.microsoft.com/office/drawing/2014/main" id="{E630A3B5-C846-2E09-07B3-CF174325A899}"/>
              </a:ext>
            </a:extLst>
          </p:cNvPr>
          <p:cNvSpPr/>
          <p:nvPr/>
        </p:nvSpPr>
        <p:spPr>
          <a:xfrm>
            <a:off x="642394" y="4741990"/>
            <a:ext cx="438912" cy="438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Calibri" panose="020F0502020204030204" pitchFamily="34" charset="0"/>
              </a:rPr>
              <a:t>05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AD62FB29-D2FC-83AE-7703-BC67C4341C58}"/>
              </a:ext>
            </a:extLst>
          </p:cNvPr>
          <p:cNvSpPr/>
          <p:nvPr/>
        </p:nvSpPr>
        <p:spPr>
          <a:xfrm>
            <a:off x="1191034" y="46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B"/>
                </a:solidFill>
                <a:ea typeface="Trebuchet MS" pitchFamily="34" charset="-122"/>
                <a:cs typeface="Calibri" panose="020F0502020204030204" pitchFamily="34" charset="0"/>
              </a:rPr>
              <a:t>Stay Curious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DE9E54E6-B6F1-6E08-19F8-8B6218FDB2A3}"/>
              </a:ext>
            </a:extLst>
          </p:cNvPr>
          <p:cNvSpPr/>
          <p:nvPr/>
        </p:nvSpPr>
        <p:spPr>
          <a:xfrm>
            <a:off x="1191034" y="492487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Follow data scientists on LinkedIn &amp; YouTube. Read about AI in the news every week.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49" name="Shape 29">
            <a:extLst>
              <a:ext uri="{FF2B5EF4-FFF2-40B4-BE49-F238E27FC236}">
                <a16:creationId xmlns:a16="http://schemas.microsoft.com/office/drawing/2014/main" id="{4CB4226C-E867-9BC4-901B-EAF789DD325A}"/>
              </a:ext>
            </a:extLst>
          </p:cNvPr>
          <p:cNvSpPr/>
          <p:nvPr/>
        </p:nvSpPr>
        <p:spPr>
          <a:xfrm>
            <a:off x="6428231" y="451339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50" name="Shape 30">
            <a:extLst>
              <a:ext uri="{FF2B5EF4-FFF2-40B4-BE49-F238E27FC236}">
                <a16:creationId xmlns:a16="http://schemas.microsoft.com/office/drawing/2014/main" id="{9B8CED5F-38EB-F9E9-AADE-8F3A406DCD9D}"/>
              </a:ext>
            </a:extLst>
          </p:cNvPr>
          <p:cNvSpPr/>
          <p:nvPr/>
        </p:nvSpPr>
        <p:spPr>
          <a:xfrm>
            <a:off x="6565391" y="4741990"/>
            <a:ext cx="438912" cy="438912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CA" sz="1600">
              <a:cs typeface="Calibri" panose="020F0502020204030204" pitchFamily="34" charset="0"/>
            </a:endParaRPr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4BA30770-A7B3-26F9-307B-C5CE8EA33975}"/>
              </a:ext>
            </a:extLst>
          </p:cNvPr>
          <p:cNvSpPr/>
          <p:nvPr/>
        </p:nvSpPr>
        <p:spPr>
          <a:xfrm>
            <a:off x="6565391" y="474199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Calibri" panose="020F0502020204030204" pitchFamily="34" charset="0"/>
              </a:rPr>
              <a:t>06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52" name="Text 32">
            <a:extLst>
              <a:ext uri="{FF2B5EF4-FFF2-40B4-BE49-F238E27FC236}">
                <a16:creationId xmlns:a16="http://schemas.microsoft.com/office/drawing/2014/main" id="{E616EB2C-4EB4-4F06-3C05-8370D23AC105}"/>
              </a:ext>
            </a:extLst>
          </p:cNvPr>
          <p:cNvSpPr/>
          <p:nvPr/>
        </p:nvSpPr>
        <p:spPr>
          <a:xfrm>
            <a:off x="7114031" y="46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B"/>
                </a:solidFill>
                <a:ea typeface="Trebuchet MS" pitchFamily="34" charset="-122"/>
                <a:cs typeface="Calibri" panose="020F0502020204030204" pitchFamily="34" charset="0"/>
              </a:rPr>
              <a:t>It's OK to Pivot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53" name="Text 33">
            <a:extLst>
              <a:ext uri="{FF2B5EF4-FFF2-40B4-BE49-F238E27FC236}">
                <a16:creationId xmlns:a16="http://schemas.microsoft.com/office/drawing/2014/main" id="{528AA9EA-DD1D-620C-CA38-096EFA4BF757}"/>
              </a:ext>
            </a:extLst>
          </p:cNvPr>
          <p:cNvSpPr/>
          <p:nvPr/>
        </p:nvSpPr>
        <p:spPr>
          <a:xfrm>
            <a:off x="7114031" y="492487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6274"/>
                </a:solidFill>
                <a:ea typeface="Calibri" pitchFamily="34" charset="-122"/>
                <a:cs typeface="Calibri" panose="020F0502020204030204" pitchFamily="34" charset="0"/>
              </a:rPr>
              <a:t>I studied engineering, then finance. Your first step doesn't have to be your last.</a:t>
            </a:r>
            <a:endParaRPr lang="en-US" sz="1600" dirty="0">
              <a:cs typeface="Calibri" panose="020F050202020403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ABEBCC5-5788-BDF3-F137-3A4C9C775F4D}"/>
              </a:ext>
            </a:extLst>
          </p:cNvPr>
          <p:cNvSpPr/>
          <p:nvPr/>
        </p:nvSpPr>
        <p:spPr>
          <a:xfrm>
            <a:off x="0" y="1226477"/>
            <a:ext cx="12192000" cy="5631523"/>
          </a:xfrm>
          <a:prstGeom prst="rect">
            <a:avLst/>
          </a:prstGeom>
          <a:blipFill dpi="0" rotWithShape="1">
            <a:blip r:embed="rId4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9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87F19-9D28-7714-A38C-EF6520115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13058D-A622-7E90-C88D-AC6223C37C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8872" y="334315"/>
            <a:ext cx="10515599" cy="904444"/>
          </a:xfrm>
        </p:spPr>
        <p:txBody>
          <a:bodyPr>
            <a:normAutofit/>
          </a:bodyPr>
          <a:lstStyle/>
          <a:p>
            <a:r>
              <a:rPr lang="en-CA" dirty="0"/>
              <a:t>Come work with 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452A54-0386-D0FA-055C-4792E43CA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040438"/>
            <a:ext cx="15684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866D64-D2E2-01AB-307D-24C833433000}"/>
              </a:ext>
            </a:extLst>
          </p:cNvPr>
          <p:cNvSpPr txBox="1"/>
          <p:nvPr/>
        </p:nvSpPr>
        <p:spPr>
          <a:xfrm>
            <a:off x="264160" y="1490133"/>
            <a:ext cx="11656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We have Co-ops when you go to college!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There are openings on: </a:t>
            </a:r>
            <a:r>
              <a:rPr lang="en-CA" dirty="0">
                <a:hlinkClick r:id="rId4"/>
              </a:rPr>
              <a:t>https://www.phsa.ca/careers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37034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48B88-E9F1-27BE-CCE8-6C3B3F002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CCDDCA-62EC-646D-2B7A-A99AE17EAF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8872" y="334315"/>
            <a:ext cx="10515599" cy="904444"/>
          </a:xfrm>
        </p:spPr>
        <p:txBody>
          <a:bodyPr>
            <a:normAutofit/>
          </a:bodyPr>
          <a:lstStyle/>
          <a:p>
            <a:r>
              <a:rPr lang="en-CA" dirty="0"/>
              <a:t>Contact 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359146-B72C-1C56-30AA-E0844165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040438"/>
            <a:ext cx="15684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5BA7E4-9B5F-B04F-9C98-DFBF2F59B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2658" y="1318663"/>
            <a:ext cx="8446684" cy="445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515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CA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5644344"/>
            <a:ext cx="1846263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068390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BCCDC">
  <a:themeElements>
    <a:clrScheme name="BCCDC_July2023_colour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E79"/>
      </a:accent1>
      <a:accent2>
        <a:srgbClr val="009FD8"/>
      </a:accent2>
      <a:accent3>
        <a:srgbClr val="D3EDEF"/>
      </a:accent3>
      <a:accent4>
        <a:srgbClr val="8CD6F8"/>
      </a:accent4>
      <a:accent5>
        <a:srgbClr val="1A0757"/>
      </a:accent5>
      <a:accent6>
        <a:srgbClr val="01809D"/>
      </a:accent6>
      <a:hlink>
        <a:srgbClr val="0563C1"/>
      </a:hlink>
      <a:folHlink>
        <a:srgbClr val="1A075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CCDC_PPT_Template8" id="{FAD89EAA-88DB-F143-A026-657AB2487F75}" vid="{4DB55BB2-B341-1A46-98D5-2CC6777F89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3B84A60A95564D97ED1D785B3C02FA" ma:contentTypeVersion="3" ma:contentTypeDescription="Create a new document." ma:contentTypeScope="" ma:versionID="16af73489bda9805e7e3fe2f69fd45f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e9a40d8e9ca84f45a06bb3a7adbeba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38E438-8932-4185-BFB1-7BD0A429EB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708886-8D11-4C37-AA6B-E74C355A474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179B589-4032-4FC4-996F-93C97F70EA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144657</TotalTime>
  <Words>1471</Words>
  <Application>Microsoft Office PowerPoint</Application>
  <PresentationFormat>Widescreen</PresentationFormat>
  <Paragraphs>290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Segoe UI</vt:lpstr>
      <vt:lpstr>Trebuchet MS</vt:lpstr>
      <vt:lpstr>BCCDC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subject/>
  <dc:creator>BCCDC</dc:creator>
  <cp:keywords/>
  <dc:description/>
  <cp:lastModifiedBy>Afraz Khan</cp:lastModifiedBy>
  <cp:revision>175</cp:revision>
  <dcterms:created xsi:type="dcterms:W3CDTF">2022-12-23T20:47:38Z</dcterms:created>
  <dcterms:modified xsi:type="dcterms:W3CDTF">2026-04-24T06:31:53Z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0x010100923B84A60A95564D97ED1D785B3C02FA</vt:lpwstr>
  </property>
</Properties>
</file>